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Pathfinder is an AI platform for schools built around one rule: AI drafts, teachers decide. Everything you'll see today is the live production system with a seeded two-school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principles to land before any feature: teacher gates on everything, grounded-only generation with honest refusals, and a complete audit trail. Every screen in the demo shows at least one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world: Horizonvale Academy — 1 admin, 1 principal, 3 teachers, 3 classes, 49 students, 46 parents. A second school (Meridian Heights) exists to prove schools never see each other's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demo's spine — everything else hangs off it. In production, the Year 8 Technology curriculum (85 concepts) was drafted from the school's real NESA PDF and signed off by a teacher.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Login: tara.teach@horizonvale.edu.au / teacher-hva-1. Show the NESA syllabus item: 6 of 6 steps done, 'Filed under Technology'. Open 'Read material' to show the teacher reads what they approve.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Tara: open Curricula — Mathematics · Year 8 (signed off) and Technology · Year 8. Expand one to show concepts are editable before sign-off. Key line: the AI is forbidden from adding anything the syllabus doesn't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tom.turner@horizonvale.edu.au / teacher-hva-2. His library is empty but 'Shared with you' shows Tara's official syllabus, attributed. Read it live. If asked about control: any attempt to manage it is refused as NOT_OWNER.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Tara: tick two or three concepts (capacity shown per concept), generate, show the shortfall banner if it appears — that's honesty, not failure. Review a question, publish, assign to 8A with a due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Tara: Teacher Agent, tick 'Assess cybersecurity and privacy risks', topic 'Cyber security', Draft it. The result quotes real TE4 outcome codes from the uploaded NESA syllabus. This is the money shot for 'grounded, not invented'.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Tara: Class dashboard for 8A — the heatmap has real graded data (16 attempts). Open Insights: focus area on fractions, suggested groups. Nothing auto-assigns; every suggestion needs the teacher's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 aaliyah.wilson0@horizonvale.edu.au / student-hva-1-01 — show the workspace and an assessment attempt. Parent: michelle.wilson0@horizonvale.edu.au / parent-hva-1-01 — Aaliyah's verified guardian.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Principal: marcus.meridian@meridianheights.edu.au / principal-mhc-1 — Meridian Heights' principal, so his dashboard shows the OTHER school's data: it doubles as the cross-school isolation proof. Admin: ada.admin@horizonvale.edu.au / admin-hva-1. If time is short, show the principal heatmap and the admin audit viewer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two browser profiles (or one normal + one private window) so switching accounts is instant. All six logins are live production accounts in the seeded Horizonvale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~20 minutes. If cut to 10: steps 1, 3, 4 and the parent view. Step 7's principal (Marcus) is from Meridian Heights — his dashboard showing none of Horizonvale's data IS the isolation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6F63"/>
        </a:solidFill>
      </p:bgPr>
    </p:bg>
    <p:spTree>
      <p:nvGrpSpPr>
        <p:cNvPr id="1" name=""/>
        <p:cNvGrpSpPr/>
        <p:nvPr/>
      </p:nvGrpSpPr>
      <p:grpSpPr>
        <a:xfrm>
          <a:off x="0" y="0"/>
          <a:ext cx="0" cy="0"/>
          <a:chOff x="0" y="0"/>
          <a:chExt cx="0" cy="0"/>
        </a:xfrm>
      </p:grpSpPr>
      <p:sp>
        <p:nvSpPr>
          <p:cNvPr id="2" name="Shape 0"/>
          <p:cNvSpPr/>
          <p:nvPr/>
        </p:nvSpPr>
        <p:spPr>
          <a:xfrm>
            <a:off x="822960" y="6035040"/>
            <a:ext cx="91440" cy="91440"/>
          </a:xfrm>
          <a:prstGeom prst="ellipse">
            <a:avLst/>
          </a:prstGeom>
          <a:solidFill>
            <a:srgbClr val="DCEEEA"/>
          </a:solidFill>
          <a:ln/>
        </p:spPr>
      </p:sp>
      <p:sp>
        <p:nvSpPr>
          <p:cNvPr id="3" name="Shape 1"/>
          <p:cNvSpPr/>
          <p:nvPr/>
        </p:nvSpPr>
        <p:spPr>
          <a:xfrm>
            <a:off x="1234440" y="5806440"/>
            <a:ext cx="128016" cy="128016"/>
          </a:xfrm>
          <a:prstGeom prst="ellipse">
            <a:avLst/>
          </a:prstGeom>
          <a:solidFill>
            <a:srgbClr val="DCEEEA"/>
          </a:solidFill>
          <a:ln/>
        </p:spPr>
      </p:sp>
      <p:sp>
        <p:nvSpPr>
          <p:cNvPr id="4" name="Shape 2"/>
          <p:cNvSpPr/>
          <p:nvPr/>
        </p:nvSpPr>
        <p:spPr>
          <a:xfrm>
            <a:off x="1737360" y="5623560"/>
            <a:ext cx="164592" cy="164592"/>
          </a:xfrm>
          <a:prstGeom prst="ellipse">
            <a:avLst/>
          </a:prstGeom>
          <a:solidFill>
            <a:srgbClr val="DCEEEA"/>
          </a:solidFill>
          <a:ln/>
        </p:spPr>
      </p:sp>
      <p:sp>
        <p:nvSpPr>
          <p:cNvPr id="5" name="Shape 3"/>
          <p:cNvSpPr/>
          <p:nvPr/>
        </p:nvSpPr>
        <p:spPr>
          <a:xfrm>
            <a:off x="2331720" y="5504688"/>
            <a:ext cx="201168" cy="201168"/>
          </a:xfrm>
          <a:prstGeom prst="ellipse">
            <a:avLst/>
          </a:prstGeom>
          <a:solidFill>
            <a:srgbClr val="DCEEEA"/>
          </a:solidFill>
          <a:ln/>
        </p:spPr>
      </p:sp>
      <p:sp>
        <p:nvSpPr>
          <p:cNvPr id="6" name="Text 4"/>
          <p:cNvSpPr/>
          <p:nvPr/>
        </p:nvSpPr>
        <p:spPr>
          <a:xfrm>
            <a:off x="822960" y="2148840"/>
            <a:ext cx="10515600" cy="1188720"/>
          </a:xfrm>
          <a:prstGeom prst="rect">
            <a:avLst/>
          </a:prstGeom>
          <a:noFill/>
          <a:ln/>
        </p:spPr>
        <p:txBody>
          <a:bodyPr wrap="square" lIns="0" tIns="0" rIns="0" bIns="0" rtlCol="0" anchor="ctr"/>
          <a:lstStyle/>
          <a:p>
            <a:pPr indent="0" marL="0">
              <a:buNone/>
            </a:pPr>
            <a:r>
              <a:rPr lang="en-US" sz="7200" b="1" dirty="0">
                <a:solidFill>
                  <a:srgbClr val="FFFFFF"/>
                </a:solidFill>
                <a:latin typeface="Cambria" pitchFamily="34" charset="0"/>
                <a:ea typeface="Cambria" pitchFamily="34" charset="-122"/>
                <a:cs typeface="Cambria" pitchFamily="34" charset="-120"/>
              </a:rPr>
              <a:t>Pathfinder</a:t>
            </a:r>
            <a:endParaRPr lang="en-US" sz="7200" dirty="0"/>
          </a:p>
        </p:txBody>
      </p:sp>
      <p:sp>
        <p:nvSpPr>
          <p:cNvPr id="7" name="Text 5"/>
          <p:cNvSpPr/>
          <p:nvPr/>
        </p:nvSpPr>
        <p:spPr>
          <a:xfrm>
            <a:off x="850392" y="3401568"/>
            <a:ext cx="10515600" cy="548640"/>
          </a:xfrm>
          <a:prstGeom prst="rect">
            <a:avLst/>
          </a:prstGeom>
          <a:noFill/>
          <a:ln/>
        </p:spPr>
        <p:txBody>
          <a:bodyPr wrap="square" lIns="0" tIns="0" rIns="0" bIns="0" rtlCol="0" anchor="ctr"/>
          <a:lstStyle/>
          <a:p>
            <a:pPr indent="0" marL="0">
              <a:buNone/>
            </a:pPr>
            <a:r>
              <a:rPr lang="en-US" sz="2400" i="1" dirty="0">
                <a:solidFill>
                  <a:srgbClr val="DCEEEA"/>
                </a:solidFill>
                <a:latin typeface="Calibri" pitchFamily="34" charset="0"/>
                <a:ea typeface="Calibri" pitchFamily="34" charset="-122"/>
                <a:cs typeface="Calibri" pitchFamily="34" charset="-120"/>
              </a:rPr>
              <a:t>The governed AI platform for schools</a:t>
            </a:r>
            <a:endParaRPr lang="en-US" sz="2400" dirty="0"/>
          </a:p>
        </p:txBody>
      </p:sp>
      <p:sp>
        <p:nvSpPr>
          <p:cNvPr id="8" name="Text 6"/>
          <p:cNvSpPr/>
          <p:nvPr/>
        </p:nvSpPr>
        <p:spPr>
          <a:xfrm>
            <a:off x="850392" y="4160520"/>
            <a:ext cx="10515600" cy="365760"/>
          </a:xfrm>
          <a:prstGeom prst="rect">
            <a:avLst/>
          </a:prstGeom>
          <a:noFill/>
          <a:ln/>
        </p:spPr>
        <p:txBody>
          <a:bodyPr wrap="square" lIns="0" tIns="0" rIns="0" bIns="0" rtlCol="0" anchor="ctr"/>
          <a:lstStyle/>
          <a:p>
            <a:pPr indent="0" marL="0">
              <a:buNone/>
            </a:pPr>
            <a:r>
              <a:rPr lang="en-US" sz="1500" dirty="0">
                <a:solidFill>
                  <a:srgbClr val="DCEEEA"/>
                </a:solidFill>
                <a:latin typeface="Calibri" pitchFamily="34" charset="0"/>
                <a:ea typeface="Calibri" pitchFamily="34" charset="-122"/>
                <a:cs typeface="Calibri" pitchFamily="34" charset="-120"/>
              </a:rPr>
              <a:t>Live demo · </a:t>
            </a:r>
            <a:pPr indent="0" marL="0">
              <a:buNone/>
            </a:pPr>
            <a:r>
              <a:rPr lang="en-US" sz="1500" b="1" dirty="0">
                <a:solidFill>
                  <a:srgbClr val="FFFFFF"/>
                </a:solidFill>
                <a:latin typeface="Calibri" pitchFamily="34" charset="0"/>
                <a:ea typeface="Calibri" pitchFamily="34" charset="-122"/>
                <a:cs typeface="Calibri" pitchFamily="34" charset="-120"/>
              </a:rPr>
              <a:t>app-seven-ashy-9kcfswuwcq.vercel.app</a:t>
            </a:r>
            <a:endParaRPr lang="en-US" sz="1500" dirty="0"/>
          </a:p>
        </p:txBody>
      </p:sp>
      <p:sp>
        <p:nvSpPr>
          <p:cNvPr id="9" name="Text 7"/>
          <p:cNvSpPr/>
          <p:nvPr/>
        </p:nvSpPr>
        <p:spPr>
          <a:xfrm>
            <a:off x="850392" y="6263640"/>
            <a:ext cx="10058400" cy="320040"/>
          </a:xfrm>
          <a:prstGeom prst="rect">
            <a:avLst/>
          </a:prstGeom>
          <a:noFill/>
          <a:ln/>
        </p:spPr>
        <p:txBody>
          <a:bodyPr wrap="square" lIns="0" tIns="0" rIns="0" bIns="0" rtlCol="0" anchor="ctr"/>
          <a:lstStyle/>
          <a:p>
            <a:pPr indent="0" marL="0">
              <a:buNone/>
            </a:pPr>
            <a:r>
              <a:rPr lang="en-US" sz="1200" dirty="0">
                <a:solidFill>
                  <a:srgbClr val="DCEEEA"/>
                </a:solidFill>
                <a:latin typeface="Calibri" pitchFamily="34" charset="0"/>
                <a:ea typeface="Calibri" pitchFamily="34" charset="-122"/>
                <a:cs typeface="Calibri" pitchFamily="34" charset="-120"/>
              </a:rPr>
              <a:t>Product walkthrough · Horizonvale Academy demo world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5"/>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200" kern="0" dirty="0">
                <a:solidFill>
                  <a:srgbClr val="1F6F63"/>
                </a:solidFill>
                <a:latin typeface="Calibri" pitchFamily="34" charset="0"/>
                <a:ea typeface="Calibri" pitchFamily="34" charset="-122"/>
                <a:cs typeface="Calibri" pitchFamily="34" charset="-120"/>
              </a:rPr>
              <a:t>WHY PATHFINDER</a:t>
            </a:r>
            <a:endParaRPr lang="en-US" sz="1200" dirty="0"/>
          </a:p>
        </p:txBody>
      </p:sp>
      <p:sp>
        <p:nvSpPr>
          <p:cNvPr id="3" name="Text 1"/>
          <p:cNvSpPr/>
          <p:nvPr/>
        </p:nvSpPr>
        <p:spPr>
          <a:xfrm>
            <a:off x="548640" y="621792"/>
            <a:ext cx="11091672" cy="685800"/>
          </a:xfrm>
          <a:prstGeom prst="rect">
            <a:avLst/>
          </a:prstGeom>
          <a:noFill/>
          <a:ln/>
        </p:spPr>
        <p:txBody>
          <a:bodyPr wrap="square" lIns="0" tIns="0" rIns="0" bIns="0" rtlCol="0" anchor="ctr"/>
          <a:lstStyle/>
          <a:p>
            <a:pPr indent="0" marL="0">
              <a:buNone/>
            </a:pPr>
            <a:r>
              <a:rPr lang="en-US" sz="3300" b="1" dirty="0">
                <a:solidFill>
                  <a:srgbClr val="1C2321"/>
                </a:solidFill>
                <a:latin typeface="Cambria" pitchFamily="34" charset="0"/>
                <a:ea typeface="Cambria" pitchFamily="34" charset="-122"/>
                <a:cs typeface="Cambria" pitchFamily="34" charset="-120"/>
              </a:rPr>
              <a:t>AI that drafts. Teachers who decide.</a:t>
            </a:r>
            <a:endParaRPr lang="en-US" sz="3300" dirty="0"/>
          </a:p>
        </p:txBody>
      </p:sp>
      <p:sp>
        <p:nvSpPr>
          <p:cNvPr id="4" name="Shape 2"/>
          <p:cNvSpPr/>
          <p:nvPr/>
        </p:nvSpPr>
        <p:spPr>
          <a:xfrm>
            <a:off x="548640" y="1737360"/>
            <a:ext cx="3453384" cy="3931920"/>
          </a:xfrm>
          <a:prstGeom prst="roundRect">
            <a:avLst>
              <a:gd name="adj" fmla="val 2383"/>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5" name="Shape 3"/>
          <p:cNvSpPr/>
          <p:nvPr/>
        </p:nvSpPr>
        <p:spPr>
          <a:xfrm>
            <a:off x="868680" y="2057400"/>
            <a:ext cx="685800" cy="685800"/>
          </a:xfrm>
          <a:prstGeom prst="ellipse">
            <a:avLst/>
          </a:prstGeom>
          <a:solidFill>
            <a:srgbClr val="DCEEEA"/>
          </a:solidFill>
          <a:ln/>
        </p:spPr>
      </p:sp>
      <p:pic>
        <p:nvPicPr>
          <p:cNvPr id="6" name="Image 0" descr="preencoded.png">    </p:cNvPr>
          <p:cNvPicPr>
            <a:picLocks noChangeAspect="1"/>
          </p:cNvPicPr>
          <p:nvPr/>
        </p:nvPicPr>
        <p:blipFill>
          <a:blip r:embed="rId1"/>
          <a:stretch>
            <a:fillRect/>
          </a:stretch>
        </p:blipFill>
        <p:spPr>
          <a:xfrm>
            <a:off x="1046988" y="2235708"/>
            <a:ext cx="329184" cy="329184"/>
          </a:xfrm>
          <a:prstGeom prst="rect">
            <a:avLst/>
          </a:prstGeom>
        </p:spPr>
      </p:pic>
      <p:sp>
        <p:nvSpPr>
          <p:cNvPr id="7" name="Text 4"/>
          <p:cNvSpPr/>
          <p:nvPr/>
        </p:nvSpPr>
        <p:spPr>
          <a:xfrm>
            <a:off x="868680" y="2971800"/>
            <a:ext cx="2813304" cy="868680"/>
          </a:xfrm>
          <a:prstGeom prst="rect">
            <a:avLst/>
          </a:prstGeom>
          <a:noFill/>
          <a:ln/>
        </p:spPr>
        <p:txBody>
          <a:bodyPr wrap="square" lIns="0" tIns="0" rIns="0" bIns="0" rtlCol="0" anchor="ctr"/>
          <a:lstStyle/>
          <a:p>
            <a:pPr indent="0" marL="0">
              <a:buNone/>
            </a:pPr>
            <a:r>
              <a:rPr lang="en-US" sz="1700" b="1" dirty="0">
                <a:solidFill>
                  <a:srgbClr val="1C2321"/>
                </a:solidFill>
                <a:latin typeface="Calibri" pitchFamily="34" charset="0"/>
                <a:ea typeface="Calibri" pitchFamily="34" charset="-122"/>
                <a:cs typeface="Calibri" pitchFamily="34" charset="-120"/>
              </a:rPr>
              <a:t>Nothing reaches students unapproved</a:t>
            </a:r>
            <a:endParaRPr lang="en-US" sz="1700" dirty="0"/>
          </a:p>
        </p:txBody>
      </p:sp>
      <p:sp>
        <p:nvSpPr>
          <p:cNvPr id="8" name="Text 5"/>
          <p:cNvSpPr/>
          <p:nvPr/>
        </p:nvSpPr>
        <p:spPr>
          <a:xfrm>
            <a:off x="868680" y="3886200"/>
            <a:ext cx="2813304" cy="1600200"/>
          </a:xfrm>
          <a:prstGeom prst="rect">
            <a:avLst/>
          </a:prstGeom>
          <a:noFill/>
          <a:ln/>
        </p:spPr>
        <p:txBody>
          <a:bodyPr wrap="square" lIns="0" tIns="0" rIns="0" bIns="0" rtlCol="0" anchor="ctr"/>
          <a:lstStyle/>
          <a:p>
            <a:pPr indent="0" marL="0">
              <a:buNone/>
            </a:pPr>
            <a:r>
              <a:rPr lang="en-US" sz="1300" dirty="0">
                <a:solidFill>
                  <a:srgbClr val="5B6663"/>
                </a:solidFill>
                <a:latin typeface="Calibri" pitchFamily="34" charset="0"/>
                <a:ea typeface="Calibri" pitchFamily="34" charset="-122"/>
                <a:cs typeface="Calibri" pitchFamily="34" charset="-120"/>
              </a:rPr>
              <a:t>Every AI output — questions, plans, feedback — stays a draft until a teacher reviews and explicitly publishes it. Nothing is ever auto-sent.</a:t>
            </a:r>
            <a:endParaRPr lang="en-US" sz="1300" dirty="0"/>
          </a:p>
        </p:txBody>
      </p:sp>
      <p:sp>
        <p:nvSpPr>
          <p:cNvPr id="9" name="Shape 6"/>
          <p:cNvSpPr/>
          <p:nvPr/>
        </p:nvSpPr>
        <p:spPr>
          <a:xfrm>
            <a:off x="4367784" y="1737360"/>
            <a:ext cx="3453384" cy="3931920"/>
          </a:xfrm>
          <a:prstGeom prst="roundRect">
            <a:avLst>
              <a:gd name="adj" fmla="val 2383"/>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10" name="Shape 7"/>
          <p:cNvSpPr/>
          <p:nvPr/>
        </p:nvSpPr>
        <p:spPr>
          <a:xfrm>
            <a:off x="4687824" y="2057400"/>
            <a:ext cx="685800" cy="685800"/>
          </a:xfrm>
          <a:prstGeom prst="ellipse">
            <a:avLst/>
          </a:prstGeom>
          <a:solidFill>
            <a:srgbClr val="DCEEEA"/>
          </a:solidFill>
          <a:ln/>
        </p:spPr>
      </p:sp>
      <p:pic>
        <p:nvPicPr>
          <p:cNvPr id="11" name="Image 1" descr="preencoded.png">    </p:cNvPr>
          <p:cNvPicPr>
            <a:picLocks noChangeAspect="1"/>
          </p:cNvPicPr>
          <p:nvPr/>
        </p:nvPicPr>
        <p:blipFill>
          <a:blip r:embed="rId2"/>
          <a:stretch>
            <a:fillRect/>
          </a:stretch>
        </p:blipFill>
        <p:spPr>
          <a:xfrm>
            <a:off x="4866132" y="2235708"/>
            <a:ext cx="329184" cy="329184"/>
          </a:xfrm>
          <a:prstGeom prst="rect">
            <a:avLst/>
          </a:prstGeom>
        </p:spPr>
      </p:pic>
      <p:sp>
        <p:nvSpPr>
          <p:cNvPr id="12" name="Text 8"/>
          <p:cNvSpPr/>
          <p:nvPr/>
        </p:nvSpPr>
        <p:spPr>
          <a:xfrm>
            <a:off x="4687824" y="2971800"/>
            <a:ext cx="2813304" cy="868680"/>
          </a:xfrm>
          <a:prstGeom prst="rect">
            <a:avLst/>
          </a:prstGeom>
          <a:noFill/>
          <a:ln/>
        </p:spPr>
        <p:txBody>
          <a:bodyPr wrap="square" lIns="0" tIns="0" rIns="0" bIns="0" rtlCol="0" anchor="ctr"/>
          <a:lstStyle/>
          <a:p>
            <a:pPr indent="0" marL="0">
              <a:buNone/>
            </a:pPr>
            <a:r>
              <a:rPr lang="en-US" sz="1700" b="1" dirty="0">
                <a:solidFill>
                  <a:srgbClr val="1C2321"/>
                </a:solidFill>
                <a:latin typeface="Calibri" pitchFamily="34" charset="0"/>
                <a:ea typeface="Calibri" pitchFamily="34" charset="-122"/>
                <a:cs typeface="Calibri" pitchFamily="34" charset="-120"/>
              </a:rPr>
              <a:t>Grounded, never invented</a:t>
            </a:r>
            <a:endParaRPr lang="en-US" sz="1700" dirty="0"/>
          </a:p>
        </p:txBody>
      </p:sp>
      <p:sp>
        <p:nvSpPr>
          <p:cNvPr id="13" name="Text 9"/>
          <p:cNvSpPr/>
          <p:nvPr/>
        </p:nvSpPr>
        <p:spPr>
          <a:xfrm>
            <a:off x="4687824" y="3886200"/>
            <a:ext cx="2813304" cy="1600200"/>
          </a:xfrm>
          <a:prstGeom prst="rect">
            <a:avLst/>
          </a:prstGeom>
          <a:noFill/>
          <a:ln/>
        </p:spPr>
        <p:txBody>
          <a:bodyPr wrap="square" lIns="0" tIns="0" rIns="0" bIns="0" rtlCol="0" anchor="ctr"/>
          <a:lstStyle/>
          <a:p>
            <a:pPr indent="0" marL="0">
              <a:buNone/>
            </a:pPr>
            <a:r>
              <a:rPr lang="en-US" sz="1300" dirty="0">
                <a:solidFill>
                  <a:srgbClr val="5B6663"/>
                </a:solidFill>
                <a:latin typeface="Calibri" pitchFamily="34" charset="0"/>
                <a:ea typeface="Calibri" pitchFamily="34" charset="-122"/>
                <a:cs typeface="Calibri" pitchFamily="34" charset="-120"/>
              </a:rPr>
              <a:t>Generation draws only on the school's approved teaching material. No grounding? Pathfinder declines honestly and names the fix — it never makes content up.</a:t>
            </a:r>
            <a:endParaRPr lang="en-US" sz="1300" dirty="0"/>
          </a:p>
        </p:txBody>
      </p:sp>
      <p:sp>
        <p:nvSpPr>
          <p:cNvPr id="14" name="Shape 10"/>
          <p:cNvSpPr/>
          <p:nvPr/>
        </p:nvSpPr>
        <p:spPr>
          <a:xfrm>
            <a:off x="8186928" y="1737360"/>
            <a:ext cx="3453384" cy="3931920"/>
          </a:xfrm>
          <a:prstGeom prst="roundRect">
            <a:avLst>
              <a:gd name="adj" fmla="val 2383"/>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15" name="Shape 11"/>
          <p:cNvSpPr/>
          <p:nvPr/>
        </p:nvSpPr>
        <p:spPr>
          <a:xfrm>
            <a:off x="8506968" y="2057400"/>
            <a:ext cx="685800" cy="685800"/>
          </a:xfrm>
          <a:prstGeom prst="ellipse">
            <a:avLst/>
          </a:prstGeom>
          <a:solidFill>
            <a:srgbClr val="DCEEEA"/>
          </a:solidFill>
          <a:ln/>
        </p:spPr>
      </p:sp>
      <p:pic>
        <p:nvPicPr>
          <p:cNvPr id="16" name="Image 2" descr="preencoded.png">    </p:cNvPr>
          <p:cNvPicPr>
            <a:picLocks noChangeAspect="1"/>
          </p:cNvPicPr>
          <p:nvPr/>
        </p:nvPicPr>
        <p:blipFill>
          <a:blip r:embed="rId3"/>
          <a:stretch>
            <a:fillRect/>
          </a:stretch>
        </p:blipFill>
        <p:spPr>
          <a:xfrm>
            <a:off x="8685276" y="2235708"/>
            <a:ext cx="329184" cy="329184"/>
          </a:xfrm>
          <a:prstGeom prst="rect">
            <a:avLst/>
          </a:prstGeom>
        </p:spPr>
      </p:pic>
      <p:sp>
        <p:nvSpPr>
          <p:cNvPr id="17" name="Text 12"/>
          <p:cNvSpPr/>
          <p:nvPr/>
        </p:nvSpPr>
        <p:spPr>
          <a:xfrm>
            <a:off x="8506968" y="2971800"/>
            <a:ext cx="2813304" cy="868680"/>
          </a:xfrm>
          <a:prstGeom prst="rect">
            <a:avLst/>
          </a:prstGeom>
          <a:noFill/>
          <a:ln/>
        </p:spPr>
        <p:txBody>
          <a:bodyPr wrap="square" lIns="0" tIns="0" rIns="0" bIns="0" rtlCol="0" anchor="ctr"/>
          <a:lstStyle/>
          <a:p>
            <a:pPr indent="0" marL="0">
              <a:buNone/>
            </a:pPr>
            <a:r>
              <a:rPr lang="en-US" sz="1700" b="1" dirty="0">
                <a:solidFill>
                  <a:srgbClr val="1C2321"/>
                </a:solidFill>
                <a:latin typeface="Calibri" pitchFamily="34" charset="0"/>
                <a:ea typeface="Calibri" pitchFamily="34" charset="-122"/>
                <a:cs typeface="Calibri" pitchFamily="34" charset="-120"/>
              </a:rPr>
              <a:t>Audited end to end</a:t>
            </a:r>
            <a:endParaRPr lang="en-US" sz="1700" dirty="0"/>
          </a:p>
        </p:txBody>
      </p:sp>
      <p:sp>
        <p:nvSpPr>
          <p:cNvPr id="18" name="Text 13"/>
          <p:cNvSpPr/>
          <p:nvPr/>
        </p:nvSpPr>
        <p:spPr>
          <a:xfrm>
            <a:off x="8506968" y="3886200"/>
            <a:ext cx="2813304" cy="1600200"/>
          </a:xfrm>
          <a:prstGeom prst="rect">
            <a:avLst/>
          </a:prstGeom>
          <a:noFill/>
          <a:ln/>
        </p:spPr>
        <p:txBody>
          <a:bodyPr wrap="square" lIns="0" tIns="0" rIns="0" bIns="0" rtlCol="0" anchor="ctr"/>
          <a:lstStyle/>
          <a:p>
            <a:pPr indent="0" marL="0">
              <a:buNone/>
            </a:pPr>
            <a:r>
              <a:rPr lang="en-US" sz="1300" dirty="0">
                <a:solidFill>
                  <a:srgbClr val="5B6663"/>
                </a:solidFill>
                <a:latin typeface="Calibri" pitchFamily="34" charset="0"/>
                <a:ea typeface="Calibri" pitchFamily="34" charset="-122"/>
                <a:cs typeface="Calibri" pitchFamily="34" charset="-120"/>
              </a:rPr>
              <a:t>Every AI call, approval, sign-off and change of hands is recorded. The audit trail shows who certified what, with no student PII inside it.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5"/>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200" kern="0" dirty="0">
                <a:solidFill>
                  <a:srgbClr val="1F6F63"/>
                </a:solidFill>
                <a:latin typeface="Calibri" pitchFamily="34" charset="0"/>
                <a:ea typeface="Calibri" pitchFamily="34" charset="-122"/>
                <a:cs typeface="Calibri" pitchFamily="34" charset="-120"/>
              </a:rPr>
              <a:t>ONE PLATFORM</a:t>
            </a:r>
            <a:endParaRPr lang="en-US" sz="1200" dirty="0"/>
          </a:p>
        </p:txBody>
      </p:sp>
      <p:sp>
        <p:nvSpPr>
          <p:cNvPr id="3" name="Text 1"/>
          <p:cNvSpPr/>
          <p:nvPr/>
        </p:nvSpPr>
        <p:spPr>
          <a:xfrm>
            <a:off x="548640" y="621792"/>
            <a:ext cx="11091672" cy="685800"/>
          </a:xfrm>
          <a:prstGeom prst="rect">
            <a:avLst/>
          </a:prstGeom>
          <a:noFill/>
          <a:ln/>
        </p:spPr>
        <p:txBody>
          <a:bodyPr wrap="square" lIns="0" tIns="0" rIns="0" bIns="0" rtlCol="0" anchor="ctr"/>
          <a:lstStyle/>
          <a:p>
            <a:pPr indent="0" marL="0">
              <a:buNone/>
            </a:pPr>
            <a:r>
              <a:rPr lang="en-US" sz="3300" b="1" dirty="0">
                <a:solidFill>
                  <a:srgbClr val="1C2321"/>
                </a:solidFill>
                <a:latin typeface="Cambria" pitchFamily="34" charset="0"/>
                <a:ea typeface="Cambria" pitchFamily="34" charset="-122"/>
                <a:cs typeface="Cambria" pitchFamily="34" charset="-120"/>
              </a:rPr>
              <a:t>Five stakeholders, one connected loop</a:t>
            </a:r>
            <a:endParaRPr lang="en-US" sz="3300" dirty="0"/>
          </a:p>
        </p:txBody>
      </p:sp>
      <p:sp>
        <p:nvSpPr>
          <p:cNvPr id="4" name="Shape 2"/>
          <p:cNvSpPr/>
          <p:nvPr/>
        </p:nvSpPr>
        <p:spPr>
          <a:xfrm>
            <a:off x="548640" y="1783080"/>
            <a:ext cx="1984248" cy="4023360"/>
          </a:xfrm>
          <a:prstGeom prst="roundRect">
            <a:avLst>
              <a:gd name="adj" fmla="val 4147"/>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5" name="Shape 3"/>
          <p:cNvSpPr/>
          <p:nvPr/>
        </p:nvSpPr>
        <p:spPr>
          <a:xfrm>
            <a:off x="1152144" y="2103120"/>
            <a:ext cx="777240" cy="777240"/>
          </a:xfrm>
          <a:prstGeom prst="ellipse">
            <a:avLst/>
          </a:prstGeom>
          <a:solidFill>
            <a:srgbClr val="1F6F63"/>
          </a:solidFill>
          <a:ln/>
        </p:spPr>
      </p:sp>
      <p:pic>
        <p:nvPicPr>
          <p:cNvPr id="6" name="Image 0" descr="preencoded.png">    </p:cNvPr>
          <p:cNvPicPr>
            <a:picLocks noChangeAspect="1"/>
          </p:cNvPicPr>
          <p:nvPr/>
        </p:nvPicPr>
        <p:blipFill>
          <a:blip r:embed="rId1"/>
          <a:stretch>
            <a:fillRect/>
          </a:stretch>
        </p:blipFill>
        <p:spPr>
          <a:xfrm>
            <a:off x="1354226" y="2305202"/>
            <a:ext cx="373075" cy="373075"/>
          </a:xfrm>
          <a:prstGeom prst="rect">
            <a:avLst/>
          </a:prstGeom>
        </p:spPr>
      </p:pic>
      <p:sp>
        <p:nvSpPr>
          <p:cNvPr id="7" name="Text 4"/>
          <p:cNvSpPr/>
          <p:nvPr/>
        </p:nvSpPr>
        <p:spPr>
          <a:xfrm>
            <a:off x="685800" y="3108960"/>
            <a:ext cx="1709928" cy="365760"/>
          </a:xfrm>
          <a:prstGeom prst="rect">
            <a:avLst/>
          </a:prstGeom>
          <a:noFill/>
          <a:ln/>
        </p:spPr>
        <p:txBody>
          <a:bodyPr wrap="square" lIns="0" tIns="0" rIns="0" bIns="0" rtlCol="0" anchor="ctr"/>
          <a:lstStyle/>
          <a:p>
            <a:pPr algn="ctr" indent="0" marL="0">
              <a:buNone/>
            </a:pPr>
            <a:r>
              <a:rPr lang="en-US" sz="1700" b="1" dirty="0">
                <a:solidFill>
                  <a:srgbClr val="1C2321"/>
                </a:solidFill>
                <a:latin typeface="Calibri" pitchFamily="34" charset="0"/>
                <a:ea typeface="Calibri" pitchFamily="34" charset="-122"/>
                <a:cs typeface="Calibri" pitchFamily="34" charset="-120"/>
              </a:rPr>
              <a:t>Admin</a:t>
            </a:r>
            <a:endParaRPr lang="en-US" sz="1700" dirty="0"/>
          </a:p>
        </p:txBody>
      </p:sp>
      <p:sp>
        <p:nvSpPr>
          <p:cNvPr id="8" name="Text 5"/>
          <p:cNvSpPr/>
          <p:nvPr/>
        </p:nvSpPr>
        <p:spPr>
          <a:xfrm>
            <a:off x="749808" y="3566160"/>
            <a:ext cx="1581912" cy="2011680"/>
          </a:xfrm>
          <a:prstGeom prst="rect">
            <a:avLst/>
          </a:prstGeom>
          <a:noFill/>
          <a:ln/>
        </p:spPr>
        <p:txBody>
          <a:bodyPr wrap="square" lIns="0" tIns="0" rIns="0" bIns="0" rtlCol="0" anchor="ctr"/>
          <a:lstStyle/>
          <a:p>
            <a:pPr algn="l" indent="0" marL="0">
              <a:buNone/>
            </a:pPr>
            <a:r>
              <a:rPr lang="en-US" sz="1200" dirty="0">
                <a:solidFill>
                  <a:srgbClr val="5B6663"/>
                </a:solidFill>
                <a:latin typeface="Calibri" pitchFamily="34" charset="0"/>
                <a:ea typeface="Calibri" pitchFamily="34" charset="-122"/>
                <a:cs typeface="Calibri" pitchFamily="34" charset="-120"/>
              </a:rPr>
              <a:t>Sets up the school: campuses, classes, people, invites, CSV import, SSO and branding.</a:t>
            </a:r>
            <a:endParaRPr lang="en-US" sz="1200" dirty="0"/>
          </a:p>
        </p:txBody>
      </p:sp>
      <p:sp>
        <p:nvSpPr>
          <p:cNvPr id="9" name="Shape 6"/>
          <p:cNvSpPr/>
          <p:nvPr/>
        </p:nvSpPr>
        <p:spPr>
          <a:xfrm>
            <a:off x="2825496" y="1783080"/>
            <a:ext cx="1984248" cy="4023360"/>
          </a:xfrm>
          <a:prstGeom prst="roundRect">
            <a:avLst>
              <a:gd name="adj" fmla="val 4147"/>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10" name="Shape 7"/>
          <p:cNvSpPr/>
          <p:nvPr/>
        </p:nvSpPr>
        <p:spPr>
          <a:xfrm>
            <a:off x="3429000" y="2103120"/>
            <a:ext cx="777240" cy="777240"/>
          </a:xfrm>
          <a:prstGeom prst="ellipse">
            <a:avLst/>
          </a:prstGeom>
          <a:solidFill>
            <a:srgbClr val="1F6F63"/>
          </a:solidFill>
          <a:ln/>
        </p:spPr>
      </p:sp>
      <p:pic>
        <p:nvPicPr>
          <p:cNvPr id="11" name="Image 1" descr="preencoded.png">    </p:cNvPr>
          <p:cNvPicPr>
            <a:picLocks noChangeAspect="1"/>
          </p:cNvPicPr>
          <p:nvPr/>
        </p:nvPicPr>
        <p:blipFill>
          <a:blip r:embed="rId2"/>
          <a:stretch>
            <a:fillRect/>
          </a:stretch>
        </p:blipFill>
        <p:spPr>
          <a:xfrm>
            <a:off x="3631082" y="2305202"/>
            <a:ext cx="373075" cy="373075"/>
          </a:xfrm>
          <a:prstGeom prst="rect">
            <a:avLst/>
          </a:prstGeom>
        </p:spPr>
      </p:pic>
      <p:sp>
        <p:nvSpPr>
          <p:cNvPr id="12" name="Text 8"/>
          <p:cNvSpPr/>
          <p:nvPr/>
        </p:nvSpPr>
        <p:spPr>
          <a:xfrm>
            <a:off x="2962656" y="3108960"/>
            <a:ext cx="1709928" cy="365760"/>
          </a:xfrm>
          <a:prstGeom prst="rect">
            <a:avLst/>
          </a:prstGeom>
          <a:noFill/>
          <a:ln/>
        </p:spPr>
        <p:txBody>
          <a:bodyPr wrap="square" lIns="0" tIns="0" rIns="0" bIns="0" rtlCol="0" anchor="ctr"/>
          <a:lstStyle/>
          <a:p>
            <a:pPr algn="ctr" indent="0" marL="0">
              <a:buNone/>
            </a:pPr>
            <a:r>
              <a:rPr lang="en-US" sz="1700" b="1" dirty="0">
                <a:solidFill>
                  <a:srgbClr val="1C2321"/>
                </a:solidFill>
                <a:latin typeface="Calibri" pitchFamily="34" charset="0"/>
                <a:ea typeface="Calibri" pitchFamily="34" charset="-122"/>
                <a:cs typeface="Calibri" pitchFamily="34" charset="-120"/>
              </a:rPr>
              <a:t>Teacher</a:t>
            </a:r>
            <a:endParaRPr lang="en-US" sz="1700" dirty="0"/>
          </a:p>
        </p:txBody>
      </p:sp>
      <p:sp>
        <p:nvSpPr>
          <p:cNvPr id="13" name="Text 9"/>
          <p:cNvSpPr/>
          <p:nvPr/>
        </p:nvSpPr>
        <p:spPr>
          <a:xfrm>
            <a:off x="3026664" y="3566160"/>
            <a:ext cx="1581912" cy="2011680"/>
          </a:xfrm>
          <a:prstGeom prst="rect">
            <a:avLst/>
          </a:prstGeom>
          <a:noFill/>
          <a:ln/>
        </p:spPr>
        <p:txBody>
          <a:bodyPr wrap="square" lIns="0" tIns="0" rIns="0" bIns="0" rtlCol="0" anchor="ctr"/>
          <a:lstStyle/>
          <a:p>
            <a:pPr algn="l" indent="0" marL="0">
              <a:buNone/>
            </a:pPr>
            <a:r>
              <a:rPr lang="en-US" sz="1200" dirty="0">
                <a:solidFill>
                  <a:srgbClr val="5B6663"/>
                </a:solidFill>
                <a:latin typeface="Calibri" pitchFamily="34" charset="0"/>
                <a:ea typeface="Calibri" pitchFamily="34" charset="-122"/>
                <a:cs typeface="Calibri" pitchFamily="34" charset="-120"/>
              </a:rPr>
              <a:t>Owns the day-to-day: material, curricula, assessments, AI drafting, class insights.</a:t>
            </a:r>
            <a:endParaRPr lang="en-US" sz="1200" dirty="0"/>
          </a:p>
        </p:txBody>
      </p:sp>
      <p:sp>
        <p:nvSpPr>
          <p:cNvPr id="14" name="Shape 10"/>
          <p:cNvSpPr/>
          <p:nvPr/>
        </p:nvSpPr>
        <p:spPr>
          <a:xfrm>
            <a:off x="5102352" y="1783080"/>
            <a:ext cx="1984248" cy="4023360"/>
          </a:xfrm>
          <a:prstGeom prst="roundRect">
            <a:avLst>
              <a:gd name="adj" fmla="val 4147"/>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15" name="Shape 11"/>
          <p:cNvSpPr/>
          <p:nvPr/>
        </p:nvSpPr>
        <p:spPr>
          <a:xfrm>
            <a:off x="5705856" y="2103120"/>
            <a:ext cx="777240" cy="777240"/>
          </a:xfrm>
          <a:prstGeom prst="ellipse">
            <a:avLst/>
          </a:prstGeom>
          <a:solidFill>
            <a:srgbClr val="1F6F63"/>
          </a:solidFill>
          <a:ln/>
        </p:spPr>
      </p:sp>
      <p:pic>
        <p:nvPicPr>
          <p:cNvPr id="16" name="Image 2" descr="preencoded.png">    </p:cNvPr>
          <p:cNvPicPr>
            <a:picLocks noChangeAspect="1"/>
          </p:cNvPicPr>
          <p:nvPr/>
        </p:nvPicPr>
        <p:blipFill>
          <a:blip r:embed="rId3"/>
          <a:stretch>
            <a:fillRect/>
          </a:stretch>
        </p:blipFill>
        <p:spPr>
          <a:xfrm>
            <a:off x="5907938" y="2305202"/>
            <a:ext cx="373075" cy="373075"/>
          </a:xfrm>
          <a:prstGeom prst="rect">
            <a:avLst/>
          </a:prstGeom>
        </p:spPr>
      </p:pic>
      <p:sp>
        <p:nvSpPr>
          <p:cNvPr id="17" name="Text 12"/>
          <p:cNvSpPr/>
          <p:nvPr/>
        </p:nvSpPr>
        <p:spPr>
          <a:xfrm>
            <a:off x="5239512" y="3108960"/>
            <a:ext cx="1709928" cy="365760"/>
          </a:xfrm>
          <a:prstGeom prst="rect">
            <a:avLst/>
          </a:prstGeom>
          <a:noFill/>
          <a:ln/>
        </p:spPr>
        <p:txBody>
          <a:bodyPr wrap="square" lIns="0" tIns="0" rIns="0" bIns="0" rtlCol="0" anchor="ctr"/>
          <a:lstStyle/>
          <a:p>
            <a:pPr algn="ctr" indent="0" marL="0">
              <a:buNone/>
            </a:pPr>
            <a:r>
              <a:rPr lang="en-US" sz="1700" b="1" dirty="0">
                <a:solidFill>
                  <a:srgbClr val="1C2321"/>
                </a:solidFill>
                <a:latin typeface="Calibri" pitchFamily="34" charset="0"/>
                <a:ea typeface="Calibri" pitchFamily="34" charset="-122"/>
                <a:cs typeface="Calibri" pitchFamily="34" charset="-120"/>
              </a:rPr>
              <a:t>Student</a:t>
            </a:r>
            <a:endParaRPr lang="en-US" sz="1700" dirty="0"/>
          </a:p>
        </p:txBody>
      </p:sp>
      <p:sp>
        <p:nvSpPr>
          <p:cNvPr id="18" name="Text 13"/>
          <p:cNvSpPr/>
          <p:nvPr/>
        </p:nvSpPr>
        <p:spPr>
          <a:xfrm>
            <a:off x="5303520" y="3566160"/>
            <a:ext cx="1581912" cy="2011680"/>
          </a:xfrm>
          <a:prstGeom prst="rect">
            <a:avLst/>
          </a:prstGeom>
          <a:noFill/>
          <a:ln/>
        </p:spPr>
        <p:txBody>
          <a:bodyPr wrap="square" lIns="0" tIns="0" rIns="0" bIns="0" rtlCol="0" anchor="ctr"/>
          <a:lstStyle/>
          <a:p>
            <a:pPr algn="l" indent="0" marL="0">
              <a:buNone/>
            </a:pPr>
            <a:r>
              <a:rPr lang="en-US" sz="1200" dirty="0">
                <a:solidFill>
                  <a:srgbClr val="5B6663"/>
                </a:solidFill>
                <a:latin typeface="Calibri" pitchFamily="34" charset="0"/>
                <a:ea typeface="Calibri" pitchFamily="34" charset="-122"/>
                <a:cs typeface="Calibri" pitchFamily="34" charset="-120"/>
              </a:rPr>
              <a:t>Works in a focused workspace: tasks, assessments, safeguarded ask-for-help.</a:t>
            </a:r>
            <a:endParaRPr lang="en-US" sz="1200" dirty="0"/>
          </a:p>
        </p:txBody>
      </p:sp>
      <p:sp>
        <p:nvSpPr>
          <p:cNvPr id="19" name="Shape 14"/>
          <p:cNvSpPr/>
          <p:nvPr/>
        </p:nvSpPr>
        <p:spPr>
          <a:xfrm>
            <a:off x="7379208" y="1783080"/>
            <a:ext cx="1984248" cy="4023360"/>
          </a:xfrm>
          <a:prstGeom prst="roundRect">
            <a:avLst>
              <a:gd name="adj" fmla="val 4147"/>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20" name="Shape 15"/>
          <p:cNvSpPr/>
          <p:nvPr/>
        </p:nvSpPr>
        <p:spPr>
          <a:xfrm>
            <a:off x="7982712" y="2103120"/>
            <a:ext cx="777240" cy="777240"/>
          </a:xfrm>
          <a:prstGeom prst="ellipse">
            <a:avLst/>
          </a:prstGeom>
          <a:solidFill>
            <a:srgbClr val="1F6F63"/>
          </a:solidFill>
          <a:ln/>
        </p:spPr>
      </p:sp>
      <p:pic>
        <p:nvPicPr>
          <p:cNvPr id="21" name="Image 3" descr="preencoded.png">    </p:cNvPr>
          <p:cNvPicPr>
            <a:picLocks noChangeAspect="1"/>
          </p:cNvPicPr>
          <p:nvPr/>
        </p:nvPicPr>
        <p:blipFill>
          <a:blip r:embed="rId4"/>
          <a:stretch>
            <a:fillRect/>
          </a:stretch>
        </p:blipFill>
        <p:spPr>
          <a:xfrm>
            <a:off x="8184794" y="2305202"/>
            <a:ext cx="373075" cy="373075"/>
          </a:xfrm>
          <a:prstGeom prst="rect">
            <a:avLst/>
          </a:prstGeom>
        </p:spPr>
      </p:pic>
      <p:sp>
        <p:nvSpPr>
          <p:cNvPr id="22" name="Text 16"/>
          <p:cNvSpPr/>
          <p:nvPr/>
        </p:nvSpPr>
        <p:spPr>
          <a:xfrm>
            <a:off x="7516368" y="3108960"/>
            <a:ext cx="1709928" cy="365760"/>
          </a:xfrm>
          <a:prstGeom prst="rect">
            <a:avLst/>
          </a:prstGeom>
          <a:noFill/>
          <a:ln/>
        </p:spPr>
        <p:txBody>
          <a:bodyPr wrap="square" lIns="0" tIns="0" rIns="0" bIns="0" rtlCol="0" anchor="ctr"/>
          <a:lstStyle/>
          <a:p>
            <a:pPr algn="ctr" indent="0" marL="0">
              <a:buNone/>
            </a:pPr>
            <a:r>
              <a:rPr lang="en-US" sz="1700" b="1" dirty="0">
                <a:solidFill>
                  <a:srgbClr val="1C2321"/>
                </a:solidFill>
                <a:latin typeface="Calibri" pitchFamily="34" charset="0"/>
                <a:ea typeface="Calibri" pitchFamily="34" charset="-122"/>
                <a:cs typeface="Calibri" pitchFamily="34" charset="-120"/>
              </a:rPr>
              <a:t>Parent</a:t>
            </a:r>
            <a:endParaRPr lang="en-US" sz="1700" dirty="0"/>
          </a:p>
        </p:txBody>
      </p:sp>
      <p:sp>
        <p:nvSpPr>
          <p:cNvPr id="23" name="Text 17"/>
          <p:cNvSpPr/>
          <p:nvPr/>
        </p:nvSpPr>
        <p:spPr>
          <a:xfrm>
            <a:off x="7580376" y="3566160"/>
            <a:ext cx="1581912" cy="2011680"/>
          </a:xfrm>
          <a:prstGeom prst="rect">
            <a:avLst/>
          </a:prstGeom>
          <a:noFill/>
          <a:ln/>
        </p:spPr>
        <p:txBody>
          <a:bodyPr wrap="square" lIns="0" tIns="0" rIns="0" bIns="0" rtlCol="0" anchor="ctr"/>
          <a:lstStyle/>
          <a:p>
            <a:pPr algn="l" indent="0" marL="0">
              <a:buNone/>
            </a:pPr>
            <a:r>
              <a:rPr lang="en-US" sz="1200" dirty="0">
                <a:solidFill>
                  <a:srgbClr val="5B6663"/>
                </a:solidFill>
                <a:latin typeface="Calibri" pitchFamily="34" charset="0"/>
                <a:ea typeface="Calibri" pitchFamily="34" charset="-122"/>
                <a:cs typeface="Calibri" pitchFamily="34" charset="-120"/>
              </a:rPr>
              <a:t>Verified guardians see their child's progress in plain language — nothing clinical.</a:t>
            </a:r>
            <a:endParaRPr lang="en-US" sz="1200" dirty="0"/>
          </a:p>
        </p:txBody>
      </p:sp>
      <p:sp>
        <p:nvSpPr>
          <p:cNvPr id="24" name="Shape 18"/>
          <p:cNvSpPr/>
          <p:nvPr/>
        </p:nvSpPr>
        <p:spPr>
          <a:xfrm>
            <a:off x="9656064" y="1783080"/>
            <a:ext cx="1984248" cy="4023360"/>
          </a:xfrm>
          <a:prstGeom prst="roundRect">
            <a:avLst>
              <a:gd name="adj" fmla="val 4147"/>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25" name="Shape 19"/>
          <p:cNvSpPr/>
          <p:nvPr/>
        </p:nvSpPr>
        <p:spPr>
          <a:xfrm>
            <a:off x="10259568" y="2103120"/>
            <a:ext cx="777240" cy="777240"/>
          </a:xfrm>
          <a:prstGeom prst="ellipse">
            <a:avLst/>
          </a:prstGeom>
          <a:solidFill>
            <a:srgbClr val="1F6F63"/>
          </a:solidFill>
          <a:ln/>
        </p:spPr>
      </p:sp>
      <p:pic>
        <p:nvPicPr>
          <p:cNvPr id="26" name="Image 4" descr="preencoded.png">    </p:cNvPr>
          <p:cNvPicPr>
            <a:picLocks noChangeAspect="1"/>
          </p:cNvPicPr>
          <p:nvPr/>
        </p:nvPicPr>
        <p:blipFill>
          <a:blip r:embed="rId5"/>
          <a:stretch>
            <a:fillRect/>
          </a:stretch>
        </p:blipFill>
        <p:spPr>
          <a:xfrm>
            <a:off x="10461650" y="2305202"/>
            <a:ext cx="373075" cy="373075"/>
          </a:xfrm>
          <a:prstGeom prst="rect">
            <a:avLst/>
          </a:prstGeom>
        </p:spPr>
      </p:pic>
      <p:sp>
        <p:nvSpPr>
          <p:cNvPr id="27" name="Text 20"/>
          <p:cNvSpPr/>
          <p:nvPr/>
        </p:nvSpPr>
        <p:spPr>
          <a:xfrm>
            <a:off x="9793224" y="3108960"/>
            <a:ext cx="1709928" cy="365760"/>
          </a:xfrm>
          <a:prstGeom prst="rect">
            <a:avLst/>
          </a:prstGeom>
          <a:noFill/>
          <a:ln/>
        </p:spPr>
        <p:txBody>
          <a:bodyPr wrap="square" lIns="0" tIns="0" rIns="0" bIns="0" rtlCol="0" anchor="ctr"/>
          <a:lstStyle/>
          <a:p>
            <a:pPr algn="ctr" indent="0" marL="0">
              <a:buNone/>
            </a:pPr>
            <a:r>
              <a:rPr lang="en-US" sz="1700" b="1" dirty="0">
                <a:solidFill>
                  <a:srgbClr val="1C2321"/>
                </a:solidFill>
                <a:latin typeface="Calibri" pitchFamily="34" charset="0"/>
                <a:ea typeface="Calibri" pitchFamily="34" charset="-122"/>
                <a:cs typeface="Calibri" pitchFamily="34" charset="-120"/>
              </a:rPr>
              <a:t>Principal</a:t>
            </a:r>
            <a:endParaRPr lang="en-US" sz="1700" dirty="0"/>
          </a:p>
        </p:txBody>
      </p:sp>
      <p:sp>
        <p:nvSpPr>
          <p:cNvPr id="28" name="Text 21"/>
          <p:cNvSpPr/>
          <p:nvPr/>
        </p:nvSpPr>
        <p:spPr>
          <a:xfrm>
            <a:off x="9857232" y="3566160"/>
            <a:ext cx="1581912" cy="2011680"/>
          </a:xfrm>
          <a:prstGeom prst="rect">
            <a:avLst/>
          </a:prstGeom>
          <a:noFill/>
          <a:ln/>
        </p:spPr>
        <p:txBody>
          <a:bodyPr wrap="square" lIns="0" tIns="0" rIns="0" bIns="0" rtlCol="0" anchor="ctr"/>
          <a:lstStyle/>
          <a:p>
            <a:pPr algn="l" indent="0" marL="0">
              <a:buNone/>
            </a:pPr>
            <a:r>
              <a:rPr lang="en-US" sz="1200" dirty="0">
                <a:solidFill>
                  <a:srgbClr val="5B6663"/>
                </a:solidFill>
                <a:latin typeface="Calibri" pitchFamily="34" charset="0"/>
                <a:ea typeface="Calibri" pitchFamily="34" charset="-122"/>
                <a:cs typeface="Calibri" pitchFamily="34" charset="-120"/>
              </a:rPr>
              <a:t>Whole-school view: mastery, alerts, policy-gated comparisons, reports and costs.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5"/>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200" kern="0" dirty="0">
                <a:solidFill>
                  <a:srgbClr val="1F6F63"/>
                </a:solidFill>
                <a:latin typeface="Calibri" pitchFamily="34" charset="0"/>
                <a:ea typeface="Calibri" pitchFamily="34" charset="-122"/>
                <a:cs typeface="Calibri" pitchFamily="34" charset="-120"/>
              </a:rPr>
              <a:t>THE CORE STORY</a:t>
            </a:r>
            <a:endParaRPr lang="en-US" sz="1200" dirty="0"/>
          </a:p>
        </p:txBody>
      </p:sp>
      <p:sp>
        <p:nvSpPr>
          <p:cNvPr id="3" name="Text 1"/>
          <p:cNvSpPr/>
          <p:nvPr/>
        </p:nvSpPr>
        <p:spPr>
          <a:xfrm>
            <a:off x="548640" y="621792"/>
            <a:ext cx="11091672" cy="685800"/>
          </a:xfrm>
          <a:prstGeom prst="rect">
            <a:avLst/>
          </a:prstGeom>
          <a:noFill/>
          <a:ln/>
        </p:spPr>
        <p:txBody>
          <a:bodyPr wrap="square" lIns="0" tIns="0" rIns="0" bIns="0" rtlCol="0" anchor="ctr"/>
          <a:lstStyle/>
          <a:p>
            <a:pPr indent="0" marL="0">
              <a:buNone/>
            </a:pPr>
            <a:r>
              <a:rPr lang="en-US" sz="3300" b="1" dirty="0">
                <a:solidFill>
                  <a:srgbClr val="1C2321"/>
                </a:solidFill>
                <a:latin typeface="Cambria" pitchFamily="34" charset="0"/>
                <a:ea typeface="Cambria" pitchFamily="34" charset="-122"/>
                <a:cs typeface="Cambria" pitchFamily="34" charset="-120"/>
              </a:rPr>
              <a:t>From syllabus to insight — one governed loop</a:t>
            </a:r>
            <a:endParaRPr lang="en-US" sz="3300" dirty="0"/>
          </a:p>
        </p:txBody>
      </p:sp>
      <p:sp>
        <p:nvSpPr>
          <p:cNvPr id="4" name="Shape 2"/>
          <p:cNvSpPr/>
          <p:nvPr/>
        </p:nvSpPr>
        <p:spPr>
          <a:xfrm>
            <a:off x="548640" y="1828800"/>
            <a:ext cx="2532888" cy="1965960"/>
          </a:xfrm>
          <a:prstGeom prst="roundRect">
            <a:avLst>
              <a:gd name="adj" fmla="val 4186"/>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5" name="Shape 3"/>
          <p:cNvSpPr/>
          <p:nvPr/>
        </p:nvSpPr>
        <p:spPr>
          <a:xfrm>
            <a:off x="804672" y="2084832"/>
            <a:ext cx="502920" cy="502920"/>
          </a:xfrm>
          <a:prstGeom prst="ellipse">
            <a:avLst/>
          </a:prstGeom>
          <a:solidFill>
            <a:srgbClr val="1F6F63"/>
          </a:solidFill>
          <a:ln/>
        </p:spPr>
      </p:sp>
      <p:sp>
        <p:nvSpPr>
          <p:cNvPr id="6" name="Text 4"/>
          <p:cNvSpPr/>
          <p:nvPr/>
        </p:nvSpPr>
        <p:spPr>
          <a:xfrm>
            <a:off x="804672" y="20848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463040" y="2103120"/>
            <a:ext cx="1435608" cy="502920"/>
          </a:xfrm>
          <a:prstGeom prst="rect">
            <a:avLst/>
          </a:prstGeom>
          <a:noFill/>
          <a:ln/>
        </p:spPr>
        <p:txBody>
          <a:bodyPr wrap="square" lIns="0" tIns="0" rIns="0" bIns="0" rtlCol="0" anchor="ctr"/>
          <a:lstStyle/>
          <a:p>
            <a:pPr indent="0" marL="0">
              <a:buNone/>
            </a:pPr>
            <a:r>
              <a:rPr lang="en-US" sz="1450" b="1" dirty="0">
                <a:solidFill>
                  <a:srgbClr val="1C2321"/>
                </a:solidFill>
                <a:latin typeface="Calibri" pitchFamily="34" charset="0"/>
                <a:ea typeface="Calibri" pitchFamily="34" charset="-122"/>
                <a:cs typeface="Calibri" pitchFamily="34" charset="-120"/>
              </a:rPr>
              <a:t>Upload the syllabus</a:t>
            </a:r>
            <a:endParaRPr lang="en-US" sz="1450" dirty="0"/>
          </a:p>
        </p:txBody>
      </p:sp>
      <p:sp>
        <p:nvSpPr>
          <p:cNvPr id="8" name="Text 6"/>
          <p:cNvSpPr/>
          <p:nvPr/>
        </p:nvSpPr>
        <p:spPr>
          <a:xfrm>
            <a:off x="804672" y="2788920"/>
            <a:ext cx="2020824" cy="868680"/>
          </a:xfrm>
          <a:prstGeom prst="rect">
            <a:avLst/>
          </a:prstGeom>
          <a:noFill/>
          <a:ln/>
        </p:spPr>
        <p:txBody>
          <a:bodyPr wrap="square" lIns="0" tIns="0" rIns="0" bIns="0" rtlCol="0" anchor="ctr"/>
          <a:lstStyle/>
          <a:p>
            <a:pPr indent="0" marL="0">
              <a:buNone/>
            </a:pPr>
            <a:r>
              <a:rPr lang="en-US" sz="1150" dirty="0">
                <a:solidFill>
                  <a:srgbClr val="5B6663"/>
                </a:solidFill>
                <a:latin typeface="Calibri" pitchFamily="34" charset="0"/>
                <a:ea typeface="Calibri" pitchFamily="34" charset="-122"/>
                <a:cs typeface="Calibri" pitchFamily="34" charset="-120"/>
              </a:rPr>
              <a:t>Real NESA PDF, text extracted in the browser</a:t>
            </a:r>
            <a:endParaRPr lang="en-US" sz="1150" dirty="0"/>
          </a:p>
        </p:txBody>
      </p:sp>
      <p:sp>
        <p:nvSpPr>
          <p:cNvPr id="9" name="Shape 7"/>
          <p:cNvSpPr/>
          <p:nvPr/>
        </p:nvSpPr>
        <p:spPr>
          <a:xfrm>
            <a:off x="3401568" y="1828800"/>
            <a:ext cx="2532888" cy="1965960"/>
          </a:xfrm>
          <a:prstGeom prst="roundRect">
            <a:avLst>
              <a:gd name="adj" fmla="val 4186"/>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10" name="Shape 8"/>
          <p:cNvSpPr/>
          <p:nvPr/>
        </p:nvSpPr>
        <p:spPr>
          <a:xfrm>
            <a:off x="3657600" y="2084832"/>
            <a:ext cx="502920" cy="502920"/>
          </a:xfrm>
          <a:prstGeom prst="ellipse">
            <a:avLst/>
          </a:prstGeom>
          <a:solidFill>
            <a:srgbClr val="1F6F63"/>
          </a:solidFill>
          <a:ln/>
        </p:spPr>
      </p:sp>
      <p:sp>
        <p:nvSpPr>
          <p:cNvPr id="11" name="Text 9"/>
          <p:cNvSpPr/>
          <p:nvPr/>
        </p:nvSpPr>
        <p:spPr>
          <a:xfrm>
            <a:off x="3657600" y="20848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4315968" y="2103120"/>
            <a:ext cx="1435608" cy="502920"/>
          </a:xfrm>
          <a:prstGeom prst="rect">
            <a:avLst/>
          </a:prstGeom>
          <a:noFill/>
          <a:ln/>
        </p:spPr>
        <p:txBody>
          <a:bodyPr wrap="square" lIns="0" tIns="0" rIns="0" bIns="0" rtlCol="0" anchor="ctr"/>
          <a:lstStyle/>
          <a:p>
            <a:pPr indent="0" marL="0">
              <a:buNone/>
            </a:pPr>
            <a:r>
              <a:rPr lang="en-US" sz="1450" b="1" dirty="0">
                <a:solidFill>
                  <a:srgbClr val="1C2321"/>
                </a:solidFill>
                <a:latin typeface="Calibri" pitchFamily="34" charset="0"/>
                <a:ea typeface="Calibri" pitchFamily="34" charset="-122"/>
                <a:cs typeface="Calibri" pitchFamily="34" charset="-120"/>
              </a:rPr>
              <a:t>Approve it</a:t>
            </a:r>
            <a:endParaRPr lang="en-US" sz="1450" dirty="0"/>
          </a:p>
        </p:txBody>
      </p:sp>
      <p:sp>
        <p:nvSpPr>
          <p:cNvPr id="13" name="Text 11"/>
          <p:cNvSpPr/>
          <p:nvPr/>
        </p:nvSpPr>
        <p:spPr>
          <a:xfrm>
            <a:off x="3657600" y="2788920"/>
            <a:ext cx="2020824" cy="868680"/>
          </a:xfrm>
          <a:prstGeom prst="rect">
            <a:avLst/>
          </a:prstGeom>
          <a:noFill/>
          <a:ln/>
        </p:spPr>
        <p:txBody>
          <a:bodyPr wrap="square" lIns="0" tIns="0" rIns="0" bIns="0" rtlCol="0" anchor="ctr"/>
          <a:lstStyle/>
          <a:p>
            <a:pPr indent="0" marL="0">
              <a:buNone/>
            </a:pPr>
            <a:r>
              <a:rPr lang="en-US" sz="1150" dirty="0">
                <a:solidFill>
                  <a:srgbClr val="5B6663"/>
                </a:solidFill>
                <a:latin typeface="Calibri" pitchFamily="34" charset="0"/>
                <a:ea typeface="Calibri" pitchFamily="34" charset="-122"/>
                <a:cs typeface="Calibri" pitchFamily="34" charset="-120"/>
              </a:rPr>
              <a:t>Scan, classify, attest rights — explicit steps</a:t>
            </a:r>
            <a:endParaRPr lang="en-US" sz="1150" dirty="0"/>
          </a:p>
        </p:txBody>
      </p:sp>
      <p:sp>
        <p:nvSpPr>
          <p:cNvPr id="14" name="Shape 12"/>
          <p:cNvSpPr/>
          <p:nvPr/>
        </p:nvSpPr>
        <p:spPr>
          <a:xfrm>
            <a:off x="6254496" y="1828800"/>
            <a:ext cx="2532888" cy="1965960"/>
          </a:xfrm>
          <a:prstGeom prst="roundRect">
            <a:avLst>
              <a:gd name="adj" fmla="val 4186"/>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15" name="Shape 13"/>
          <p:cNvSpPr/>
          <p:nvPr/>
        </p:nvSpPr>
        <p:spPr>
          <a:xfrm>
            <a:off x="6510528" y="2084832"/>
            <a:ext cx="502920" cy="502920"/>
          </a:xfrm>
          <a:prstGeom prst="ellipse">
            <a:avLst/>
          </a:prstGeom>
          <a:solidFill>
            <a:srgbClr val="1F6F63"/>
          </a:solidFill>
          <a:ln/>
        </p:spPr>
      </p:sp>
      <p:sp>
        <p:nvSpPr>
          <p:cNvPr id="16" name="Text 14"/>
          <p:cNvSpPr/>
          <p:nvPr/>
        </p:nvSpPr>
        <p:spPr>
          <a:xfrm>
            <a:off x="6510528" y="20848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7168896" y="2103120"/>
            <a:ext cx="1435608" cy="502920"/>
          </a:xfrm>
          <a:prstGeom prst="rect">
            <a:avLst/>
          </a:prstGeom>
          <a:noFill/>
          <a:ln/>
        </p:spPr>
        <p:txBody>
          <a:bodyPr wrap="square" lIns="0" tIns="0" rIns="0" bIns="0" rtlCol="0" anchor="ctr"/>
          <a:lstStyle/>
          <a:p>
            <a:pPr indent="0" marL="0">
              <a:buNone/>
            </a:pPr>
            <a:r>
              <a:rPr lang="en-US" sz="1450" b="1" dirty="0">
                <a:solidFill>
                  <a:srgbClr val="1C2321"/>
                </a:solidFill>
                <a:latin typeface="Calibri" pitchFamily="34" charset="0"/>
                <a:ea typeface="Calibri" pitchFamily="34" charset="-122"/>
                <a:cs typeface="Calibri" pitchFamily="34" charset="-120"/>
              </a:rPr>
              <a:t>Draft the curriculum</a:t>
            </a:r>
            <a:endParaRPr lang="en-US" sz="1450" dirty="0"/>
          </a:p>
        </p:txBody>
      </p:sp>
      <p:sp>
        <p:nvSpPr>
          <p:cNvPr id="18" name="Text 16"/>
          <p:cNvSpPr/>
          <p:nvPr/>
        </p:nvSpPr>
        <p:spPr>
          <a:xfrm>
            <a:off x="6510528" y="2788920"/>
            <a:ext cx="2020824" cy="868680"/>
          </a:xfrm>
          <a:prstGeom prst="rect">
            <a:avLst/>
          </a:prstGeom>
          <a:noFill/>
          <a:ln/>
        </p:spPr>
        <p:txBody>
          <a:bodyPr wrap="square" lIns="0" tIns="0" rIns="0" bIns="0" rtlCol="0" anchor="ctr"/>
          <a:lstStyle/>
          <a:p>
            <a:pPr indent="0" marL="0">
              <a:buNone/>
            </a:pPr>
            <a:r>
              <a:rPr lang="en-US" sz="1150" dirty="0">
                <a:solidFill>
                  <a:srgbClr val="5B6663"/>
                </a:solidFill>
                <a:latin typeface="Calibri" pitchFamily="34" charset="0"/>
                <a:ea typeface="Calibri" pitchFamily="34" charset="-122"/>
                <a:cs typeface="Calibri" pitchFamily="34" charset="-120"/>
              </a:rPr>
              <a:t>AI outlines it from the document's own text</a:t>
            </a:r>
            <a:endParaRPr lang="en-US" sz="1150" dirty="0"/>
          </a:p>
        </p:txBody>
      </p:sp>
      <p:sp>
        <p:nvSpPr>
          <p:cNvPr id="19" name="Shape 17"/>
          <p:cNvSpPr/>
          <p:nvPr/>
        </p:nvSpPr>
        <p:spPr>
          <a:xfrm>
            <a:off x="9107424" y="1828800"/>
            <a:ext cx="2532888" cy="1965960"/>
          </a:xfrm>
          <a:prstGeom prst="roundRect">
            <a:avLst>
              <a:gd name="adj" fmla="val 4186"/>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20" name="Shape 18"/>
          <p:cNvSpPr/>
          <p:nvPr/>
        </p:nvSpPr>
        <p:spPr>
          <a:xfrm>
            <a:off x="9363456" y="2084832"/>
            <a:ext cx="502920" cy="502920"/>
          </a:xfrm>
          <a:prstGeom prst="ellipse">
            <a:avLst/>
          </a:prstGeom>
          <a:solidFill>
            <a:srgbClr val="1F6F63"/>
          </a:solidFill>
          <a:ln/>
        </p:spPr>
      </p:sp>
      <p:sp>
        <p:nvSpPr>
          <p:cNvPr id="21" name="Text 19"/>
          <p:cNvSpPr/>
          <p:nvPr/>
        </p:nvSpPr>
        <p:spPr>
          <a:xfrm>
            <a:off x="9363456" y="20848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2" name="Text 20"/>
          <p:cNvSpPr/>
          <p:nvPr/>
        </p:nvSpPr>
        <p:spPr>
          <a:xfrm>
            <a:off x="10021824" y="2103120"/>
            <a:ext cx="1435608" cy="502920"/>
          </a:xfrm>
          <a:prstGeom prst="rect">
            <a:avLst/>
          </a:prstGeom>
          <a:noFill/>
          <a:ln/>
        </p:spPr>
        <p:txBody>
          <a:bodyPr wrap="square" lIns="0" tIns="0" rIns="0" bIns="0" rtlCol="0" anchor="ctr"/>
          <a:lstStyle/>
          <a:p>
            <a:pPr indent="0" marL="0">
              <a:buNone/>
            </a:pPr>
            <a:r>
              <a:rPr lang="en-US" sz="1450" b="1" dirty="0">
                <a:solidFill>
                  <a:srgbClr val="1C2321"/>
                </a:solidFill>
                <a:latin typeface="Calibri" pitchFamily="34" charset="0"/>
                <a:ea typeface="Calibri" pitchFamily="34" charset="-122"/>
                <a:cs typeface="Calibri" pitchFamily="34" charset="-120"/>
              </a:rPr>
              <a:t>Sign it off</a:t>
            </a:r>
            <a:endParaRPr lang="en-US" sz="1450" dirty="0"/>
          </a:p>
        </p:txBody>
      </p:sp>
      <p:sp>
        <p:nvSpPr>
          <p:cNvPr id="23" name="Text 21"/>
          <p:cNvSpPr/>
          <p:nvPr/>
        </p:nvSpPr>
        <p:spPr>
          <a:xfrm>
            <a:off x="9363456" y="2788920"/>
            <a:ext cx="2020824" cy="868680"/>
          </a:xfrm>
          <a:prstGeom prst="rect">
            <a:avLst/>
          </a:prstGeom>
          <a:noFill/>
          <a:ln/>
        </p:spPr>
        <p:txBody>
          <a:bodyPr wrap="square" lIns="0" tIns="0" rIns="0" bIns="0" rtlCol="0" anchor="ctr"/>
          <a:lstStyle/>
          <a:p>
            <a:pPr indent="0" marL="0">
              <a:buNone/>
            </a:pPr>
            <a:r>
              <a:rPr lang="en-US" sz="1150" dirty="0">
                <a:solidFill>
                  <a:srgbClr val="5B6663"/>
                </a:solidFill>
                <a:latin typeface="Calibri" pitchFamily="34" charset="0"/>
                <a:ea typeface="Calibri" pitchFamily="34" charset="-122"/>
                <a:cs typeface="Calibri" pitchFamily="34" charset="-120"/>
              </a:rPr>
              <a:t>A teacher certifies it; audit records who</a:t>
            </a:r>
            <a:endParaRPr lang="en-US" sz="1150" dirty="0"/>
          </a:p>
        </p:txBody>
      </p:sp>
      <p:sp>
        <p:nvSpPr>
          <p:cNvPr id="24" name="Shape 22"/>
          <p:cNvSpPr/>
          <p:nvPr/>
        </p:nvSpPr>
        <p:spPr>
          <a:xfrm>
            <a:off x="548640" y="4114800"/>
            <a:ext cx="2532888" cy="1965960"/>
          </a:xfrm>
          <a:prstGeom prst="roundRect">
            <a:avLst>
              <a:gd name="adj" fmla="val 4186"/>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25" name="Shape 23"/>
          <p:cNvSpPr/>
          <p:nvPr/>
        </p:nvSpPr>
        <p:spPr>
          <a:xfrm>
            <a:off x="804672" y="4370832"/>
            <a:ext cx="502920" cy="502920"/>
          </a:xfrm>
          <a:prstGeom prst="ellipse">
            <a:avLst/>
          </a:prstGeom>
          <a:solidFill>
            <a:srgbClr val="1F6F63"/>
          </a:solidFill>
          <a:ln/>
        </p:spPr>
      </p:sp>
      <p:sp>
        <p:nvSpPr>
          <p:cNvPr id="26" name="Text 24"/>
          <p:cNvSpPr/>
          <p:nvPr/>
        </p:nvSpPr>
        <p:spPr>
          <a:xfrm>
            <a:off x="804672" y="43708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7" name="Text 25"/>
          <p:cNvSpPr/>
          <p:nvPr/>
        </p:nvSpPr>
        <p:spPr>
          <a:xfrm>
            <a:off x="1463040" y="4389120"/>
            <a:ext cx="1435608" cy="502920"/>
          </a:xfrm>
          <a:prstGeom prst="rect">
            <a:avLst/>
          </a:prstGeom>
          <a:noFill/>
          <a:ln/>
        </p:spPr>
        <p:txBody>
          <a:bodyPr wrap="square" lIns="0" tIns="0" rIns="0" bIns="0" rtlCol="0" anchor="ctr"/>
          <a:lstStyle/>
          <a:p>
            <a:pPr indent="0" marL="0">
              <a:buNone/>
            </a:pPr>
            <a:r>
              <a:rPr lang="en-US" sz="1450" b="1" dirty="0">
                <a:solidFill>
                  <a:srgbClr val="1C2321"/>
                </a:solidFill>
                <a:latin typeface="Calibri" pitchFamily="34" charset="0"/>
                <a:ea typeface="Calibri" pitchFamily="34" charset="-122"/>
                <a:cs typeface="Calibri" pitchFamily="34" charset="-120"/>
              </a:rPr>
              <a:t>File material</a:t>
            </a:r>
            <a:endParaRPr lang="en-US" sz="1450" dirty="0"/>
          </a:p>
        </p:txBody>
      </p:sp>
      <p:sp>
        <p:nvSpPr>
          <p:cNvPr id="28" name="Text 26"/>
          <p:cNvSpPr/>
          <p:nvPr/>
        </p:nvSpPr>
        <p:spPr>
          <a:xfrm>
            <a:off x="804672" y="5074920"/>
            <a:ext cx="2020824" cy="868680"/>
          </a:xfrm>
          <a:prstGeom prst="rect">
            <a:avLst/>
          </a:prstGeom>
          <a:noFill/>
          <a:ln/>
        </p:spPr>
        <p:txBody>
          <a:bodyPr wrap="square" lIns="0" tIns="0" rIns="0" bIns="0" rtlCol="0" anchor="ctr"/>
          <a:lstStyle/>
          <a:p>
            <a:pPr indent="0" marL="0">
              <a:buNone/>
            </a:pPr>
            <a:r>
              <a:rPr lang="en-US" sz="1150" dirty="0">
                <a:solidFill>
                  <a:srgbClr val="5B6663"/>
                </a:solidFill>
                <a:latin typeface="Calibri" pitchFamily="34" charset="0"/>
                <a:ea typeface="Calibri" pitchFamily="34" charset="-122"/>
                <a:cs typeface="Calibri" pitchFamily="34" charset="-120"/>
              </a:rPr>
              <a:t>Year + Subject — it grounds every concept below</a:t>
            </a:r>
            <a:endParaRPr lang="en-US" sz="1150" dirty="0"/>
          </a:p>
        </p:txBody>
      </p:sp>
      <p:sp>
        <p:nvSpPr>
          <p:cNvPr id="29" name="Shape 27"/>
          <p:cNvSpPr/>
          <p:nvPr/>
        </p:nvSpPr>
        <p:spPr>
          <a:xfrm>
            <a:off x="3401568" y="4114800"/>
            <a:ext cx="2532888" cy="1965960"/>
          </a:xfrm>
          <a:prstGeom prst="roundRect">
            <a:avLst>
              <a:gd name="adj" fmla="val 4186"/>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30" name="Shape 28"/>
          <p:cNvSpPr/>
          <p:nvPr/>
        </p:nvSpPr>
        <p:spPr>
          <a:xfrm>
            <a:off x="3657600" y="4370832"/>
            <a:ext cx="502920" cy="502920"/>
          </a:xfrm>
          <a:prstGeom prst="ellipse">
            <a:avLst/>
          </a:prstGeom>
          <a:solidFill>
            <a:srgbClr val="1F6F63"/>
          </a:solidFill>
          <a:ln/>
        </p:spPr>
      </p:sp>
      <p:sp>
        <p:nvSpPr>
          <p:cNvPr id="31" name="Text 29"/>
          <p:cNvSpPr/>
          <p:nvPr/>
        </p:nvSpPr>
        <p:spPr>
          <a:xfrm>
            <a:off x="3657600" y="43708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2" name="Text 30"/>
          <p:cNvSpPr/>
          <p:nvPr/>
        </p:nvSpPr>
        <p:spPr>
          <a:xfrm>
            <a:off x="4315968" y="4389120"/>
            <a:ext cx="1435608" cy="502920"/>
          </a:xfrm>
          <a:prstGeom prst="rect">
            <a:avLst/>
          </a:prstGeom>
          <a:noFill/>
          <a:ln/>
        </p:spPr>
        <p:txBody>
          <a:bodyPr wrap="square" lIns="0" tIns="0" rIns="0" bIns="0" rtlCol="0" anchor="ctr"/>
          <a:lstStyle/>
          <a:p>
            <a:pPr indent="0" marL="0">
              <a:buNone/>
            </a:pPr>
            <a:r>
              <a:rPr lang="en-US" sz="1450" b="1" dirty="0">
                <a:solidFill>
                  <a:srgbClr val="1C2321"/>
                </a:solidFill>
                <a:latin typeface="Calibri" pitchFamily="34" charset="0"/>
                <a:ea typeface="Calibri" pitchFamily="34" charset="-122"/>
                <a:cs typeface="Calibri" pitchFamily="34" charset="-120"/>
              </a:rPr>
              <a:t>Generate &amp; publish</a:t>
            </a:r>
            <a:endParaRPr lang="en-US" sz="1450" dirty="0"/>
          </a:p>
        </p:txBody>
      </p:sp>
      <p:sp>
        <p:nvSpPr>
          <p:cNvPr id="33" name="Text 31"/>
          <p:cNvSpPr/>
          <p:nvPr/>
        </p:nvSpPr>
        <p:spPr>
          <a:xfrm>
            <a:off x="3657600" y="5074920"/>
            <a:ext cx="2020824" cy="868680"/>
          </a:xfrm>
          <a:prstGeom prst="rect">
            <a:avLst/>
          </a:prstGeom>
          <a:noFill/>
          <a:ln/>
        </p:spPr>
        <p:txBody>
          <a:bodyPr wrap="square" lIns="0" tIns="0" rIns="0" bIns="0" rtlCol="0" anchor="ctr"/>
          <a:lstStyle/>
          <a:p>
            <a:pPr indent="0" marL="0">
              <a:buNone/>
            </a:pPr>
            <a:r>
              <a:rPr lang="en-US" sz="1150" dirty="0">
                <a:solidFill>
                  <a:srgbClr val="5B6663"/>
                </a:solidFill>
                <a:latin typeface="Calibri" pitchFamily="34" charset="0"/>
                <a:ea typeface="Calibri" pitchFamily="34" charset="-122"/>
                <a:cs typeface="Calibri" pitchFamily="34" charset="-120"/>
              </a:rPr>
              <a:t>Grounded assessments, reviewed then published</a:t>
            </a:r>
            <a:endParaRPr lang="en-US" sz="1150" dirty="0"/>
          </a:p>
        </p:txBody>
      </p:sp>
      <p:sp>
        <p:nvSpPr>
          <p:cNvPr id="34" name="Shape 32"/>
          <p:cNvSpPr/>
          <p:nvPr/>
        </p:nvSpPr>
        <p:spPr>
          <a:xfrm>
            <a:off x="6254496" y="4114800"/>
            <a:ext cx="2532888" cy="1965960"/>
          </a:xfrm>
          <a:prstGeom prst="roundRect">
            <a:avLst>
              <a:gd name="adj" fmla="val 4186"/>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35" name="Shape 33"/>
          <p:cNvSpPr/>
          <p:nvPr/>
        </p:nvSpPr>
        <p:spPr>
          <a:xfrm>
            <a:off x="6510528" y="4370832"/>
            <a:ext cx="502920" cy="502920"/>
          </a:xfrm>
          <a:prstGeom prst="ellipse">
            <a:avLst/>
          </a:prstGeom>
          <a:solidFill>
            <a:srgbClr val="1F6F63"/>
          </a:solidFill>
          <a:ln/>
        </p:spPr>
      </p:sp>
      <p:sp>
        <p:nvSpPr>
          <p:cNvPr id="36" name="Text 34"/>
          <p:cNvSpPr/>
          <p:nvPr/>
        </p:nvSpPr>
        <p:spPr>
          <a:xfrm>
            <a:off x="6510528" y="43708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37" name="Text 35"/>
          <p:cNvSpPr/>
          <p:nvPr/>
        </p:nvSpPr>
        <p:spPr>
          <a:xfrm>
            <a:off x="7168896" y="4389120"/>
            <a:ext cx="1435608" cy="502920"/>
          </a:xfrm>
          <a:prstGeom prst="rect">
            <a:avLst/>
          </a:prstGeom>
          <a:noFill/>
          <a:ln/>
        </p:spPr>
        <p:txBody>
          <a:bodyPr wrap="square" lIns="0" tIns="0" rIns="0" bIns="0" rtlCol="0" anchor="ctr"/>
          <a:lstStyle/>
          <a:p>
            <a:pPr indent="0" marL="0">
              <a:buNone/>
            </a:pPr>
            <a:r>
              <a:rPr lang="en-US" sz="1450" b="1" dirty="0">
                <a:solidFill>
                  <a:srgbClr val="1C2321"/>
                </a:solidFill>
                <a:latin typeface="Calibri" pitchFamily="34" charset="0"/>
                <a:ea typeface="Calibri" pitchFamily="34" charset="-122"/>
                <a:cs typeface="Calibri" pitchFamily="34" charset="-120"/>
              </a:rPr>
              <a:t>Assign &amp; grade</a:t>
            </a:r>
            <a:endParaRPr lang="en-US" sz="1450" dirty="0"/>
          </a:p>
        </p:txBody>
      </p:sp>
      <p:sp>
        <p:nvSpPr>
          <p:cNvPr id="38" name="Text 36"/>
          <p:cNvSpPr/>
          <p:nvPr/>
        </p:nvSpPr>
        <p:spPr>
          <a:xfrm>
            <a:off x="6510528" y="5074920"/>
            <a:ext cx="2020824" cy="868680"/>
          </a:xfrm>
          <a:prstGeom prst="rect">
            <a:avLst/>
          </a:prstGeom>
          <a:noFill/>
          <a:ln/>
        </p:spPr>
        <p:txBody>
          <a:bodyPr wrap="square" lIns="0" tIns="0" rIns="0" bIns="0" rtlCol="0" anchor="ctr"/>
          <a:lstStyle/>
          <a:p>
            <a:pPr indent="0" marL="0">
              <a:buNone/>
            </a:pPr>
            <a:r>
              <a:rPr lang="en-US" sz="1150" dirty="0">
                <a:solidFill>
                  <a:srgbClr val="5B6663"/>
                </a:solidFill>
                <a:latin typeface="Calibri" pitchFamily="34" charset="0"/>
                <a:ea typeface="Calibri" pitchFamily="34" charset="-122"/>
                <a:cs typeface="Calibri" pitchFamily="34" charset="-120"/>
              </a:rPr>
              <a:t>Students attempt; AI grades to the rubric</a:t>
            </a:r>
            <a:endParaRPr lang="en-US" sz="1150" dirty="0"/>
          </a:p>
        </p:txBody>
      </p:sp>
      <p:sp>
        <p:nvSpPr>
          <p:cNvPr id="39" name="Shape 37"/>
          <p:cNvSpPr/>
          <p:nvPr/>
        </p:nvSpPr>
        <p:spPr>
          <a:xfrm>
            <a:off x="9107424" y="4114800"/>
            <a:ext cx="2532888" cy="1965960"/>
          </a:xfrm>
          <a:prstGeom prst="roundRect">
            <a:avLst>
              <a:gd name="adj" fmla="val 4186"/>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40" name="Shape 38"/>
          <p:cNvSpPr/>
          <p:nvPr/>
        </p:nvSpPr>
        <p:spPr>
          <a:xfrm>
            <a:off x="9363456" y="4370832"/>
            <a:ext cx="502920" cy="502920"/>
          </a:xfrm>
          <a:prstGeom prst="ellipse">
            <a:avLst/>
          </a:prstGeom>
          <a:solidFill>
            <a:srgbClr val="1F6F63"/>
          </a:solidFill>
          <a:ln/>
        </p:spPr>
      </p:sp>
      <p:sp>
        <p:nvSpPr>
          <p:cNvPr id="41" name="Text 39"/>
          <p:cNvSpPr/>
          <p:nvPr/>
        </p:nvSpPr>
        <p:spPr>
          <a:xfrm>
            <a:off x="9363456" y="437083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8</a:t>
            </a:r>
            <a:endParaRPr lang="en-US" sz="1800" dirty="0"/>
          </a:p>
        </p:txBody>
      </p:sp>
      <p:sp>
        <p:nvSpPr>
          <p:cNvPr id="42" name="Text 40"/>
          <p:cNvSpPr/>
          <p:nvPr/>
        </p:nvSpPr>
        <p:spPr>
          <a:xfrm>
            <a:off x="10021824" y="4389120"/>
            <a:ext cx="1435608" cy="502920"/>
          </a:xfrm>
          <a:prstGeom prst="rect">
            <a:avLst/>
          </a:prstGeom>
          <a:noFill/>
          <a:ln/>
        </p:spPr>
        <p:txBody>
          <a:bodyPr wrap="square" lIns="0" tIns="0" rIns="0" bIns="0" rtlCol="0" anchor="ctr"/>
          <a:lstStyle/>
          <a:p>
            <a:pPr indent="0" marL="0">
              <a:buNone/>
            </a:pPr>
            <a:r>
              <a:rPr lang="en-US" sz="1450" b="1" dirty="0">
                <a:solidFill>
                  <a:srgbClr val="1C2321"/>
                </a:solidFill>
                <a:latin typeface="Calibri" pitchFamily="34" charset="0"/>
                <a:ea typeface="Calibri" pitchFamily="34" charset="-122"/>
                <a:cs typeface="Calibri" pitchFamily="34" charset="-120"/>
              </a:rPr>
              <a:t>See mastery grow</a:t>
            </a:r>
            <a:endParaRPr lang="en-US" sz="1450" dirty="0"/>
          </a:p>
        </p:txBody>
      </p:sp>
      <p:sp>
        <p:nvSpPr>
          <p:cNvPr id="43" name="Text 41"/>
          <p:cNvSpPr/>
          <p:nvPr/>
        </p:nvSpPr>
        <p:spPr>
          <a:xfrm>
            <a:off x="9363456" y="5074920"/>
            <a:ext cx="2020824" cy="868680"/>
          </a:xfrm>
          <a:prstGeom prst="rect">
            <a:avLst/>
          </a:prstGeom>
          <a:noFill/>
          <a:ln/>
        </p:spPr>
        <p:txBody>
          <a:bodyPr wrap="square" lIns="0" tIns="0" rIns="0" bIns="0" rtlCol="0" anchor="ctr"/>
          <a:lstStyle/>
          <a:p>
            <a:pPr indent="0" marL="0">
              <a:buNone/>
            </a:pPr>
            <a:r>
              <a:rPr lang="en-US" sz="1150" dirty="0">
                <a:solidFill>
                  <a:srgbClr val="5B6663"/>
                </a:solidFill>
                <a:latin typeface="Calibri" pitchFamily="34" charset="0"/>
                <a:ea typeface="Calibri" pitchFamily="34" charset="-122"/>
                <a:cs typeface="Calibri" pitchFamily="34" charset="-120"/>
              </a:rPr>
              <a:t>Heatmap, focus areas, adaptive next actions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5"/>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200" kern="0" dirty="0">
                <a:solidFill>
                  <a:srgbClr val="1F6F63"/>
                </a:solidFill>
                <a:latin typeface="Calibri" pitchFamily="34" charset="0"/>
                <a:ea typeface="Calibri" pitchFamily="34" charset="-122"/>
                <a:cs typeface="Calibri" pitchFamily="34" charset="-120"/>
              </a:rPr>
              <a:t>TEACHER · CONTENT STUDIO</a:t>
            </a:r>
            <a:endParaRPr lang="en-US" sz="1200" dirty="0"/>
          </a:p>
        </p:txBody>
      </p:sp>
      <p:sp>
        <p:nvSpPr>
          <p:cNvPr id="3" name="Text 1"/>
          <p:cNvSpPr/>
          <p:nvPr/>
        </p:nvSpPr>
        <p:spPr>
          <a:xfrm>
            <a:off x="548640" y="621792"/>
            <a:ext cx="11091672" cy="685800"/>
          </a:xfrm>
          <a:prstGeom prst="rect">
            <a:avLst/>
          </a:prstGeom>
          <a:noFill/>
          <a:ln/>
        </p:spPr>
        <p:txBody>
          <a:bodyPr wrap="square" lIns="0" tIns="0" rIns="0" bIns="0" rtlCol="0" anchor="ctr"/>
          <a:lstStyle/>
          <a:p>
            <a:pPr indent="0" marL="0">
              <a:buNone/>
            </a:pPr>
            <a:r>
              <a:rPr lang="en-US" sz="3300" b="1" dirty="0">
                <a:solidFill>
                  <a:srgbClr val="1C2321"/>
                </a:solidFill>
                <a:latin typeface="Cambria" pitchFamily="34" charset="0"/>
                <a:ea typeface="Cambria" pitchFamily="34" charset="-122"/>
                <a:cs typeface="Cambria" pitchFamily="34" charset="-120"/>
              </a:rPr>
              <a:t>A governed library, not a file dump</a:t>
            </a:r>
            <a:endParaRPr lang="en-US" sz="3300" dirty="0"/>
          </a:p>
        </p:txBody>
      </p:sp>
      <p:sp>
        <p:nvSpPr>
          <p:cNvPr id="4" name="Shape 2"/>
          <p:cNvSpPr/>
          <p:nvPr/>
        </p:nvSpPr>
        <p:spPr>
          <a:xfrm>
            <a:off x="548640" y="1783080"/>
            <a:ext cx="5486400" cy="4206240"/>
          </a:xfrm>
          <a:prstGeom prst="roundRect">
            <a:avLst>
              <a:gd name="adj" fmla="val 1957"/>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5" name="Text 3"/>
          <p:cNvSpPr/>
          <p:nvPr/>
        </p:nvSpPr>
        <p:spPr>
          <a:xfrm>
            <a:off x="868680" y="2011680"/>
            <a:ext cx="4846320" cy="365760"/>
          </a:xfrm>
          <a:prstGeom prst="rect">
            <a:avLst/>
          </a:prstGeom>
          <a:noFill/>
          <a:ln/>
        </p:spPr>
        <p:txBody>
          <a:bodyPr wrap="square" lIns="0" tIns="0" rIns="0" bIns="0" rtlCol="0" anchor="ctr"/>
          <a:lstStyle/>
          <a:p>
            <a:pPr indent="0" marL="0">
              <a:buNone/>
            </a:pPr>
            <a:r>
              <a:rPr lang="en-US" sz="1600" b="1" dirty="0">
                <a:solidFill>
                  <a:srgbClr val="1C2321"/>
                </a:solidFill>
                <a:latin typeface="Calibri" pitchFamily="34" charset="0"/>
                <a:ea typeface="Calibri" pitchFamily="34" charset="-122"/>
                <a:cs typeface="Calibri" pitchFamily="34" charset="-120"/>
              </a:rPr>
              <a:t>Six explicit gates on every item</a:t>
            </a:r>
            <a:endParaRPr lang="en-US" sz="1600" dirty="0"/>
          </a:p>
        </p:txBody>
      </p:sp>
      <p:sp>
        <p:nvSpPr>
          <p:cNvPr id="6" name="Text 4"/>
          <p:cNvSpPr/>
          <p:nvPr/>
        </p:nvSpPr>
        <p:spPr>
          <a:xfrm>
            <a:off x="868680" y="2468880"/>
            <a:ext cx="4892040" cy="329184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5B6663"/>
                </a:solidFill>
                <a:latin typeface="Calibri" pitchFamily="34" charset="0"/>
                <a:ea typeface="Calibri" pitchFamily="34" charset="-122"/>
                <a:cs typeface="Calibri" pitchFamily="34" charset="-120"/>
              </a:rPr>
              <a:t>Uploaded — the file is in the library</a:t>
            </a:r>
            <a:endParaRPr lang="en-US" sz="1350" dirty="0"/>
          </a:p>
          <a:p>
            <a:pPr marL="342900" indent="-342900">
              <a:spcAft>
                <a:spcPts val="800"/>
              </a:spcAft>
              <a:buSzPct val="100000"/>
              <a:buChar char="✓"/>
            </a:pPr>
            <a:r>
              <a:rPr lang="en-US" sz="1350" dirty="0">
                <a:solidFill>
                  <a:srgbClr val="5B6663"/>
                </a:solidFill>
                <a:latin typeface="Calibri" pitchFamily="34" charset="0"/>
                <a:ea typeface="Calibri" pitchFamily="34" charset="-122"/>
                <a:cs typeface="Calibri" pitchFamily="34" charset="-120"/>
              </a:rPr>
              <a:t>Text extracted — so questions can be grounded in it</a:t>
            </a:r>
            <a:endParaRPr lang="en-US" sz="1350" dirty="0"/>
          </a:p>
          <a:p>
            <a:pPr marL="342900" indent="-342900">
              <a:spcAft>
                <a:spcPts val="800"/>
              </a:spcAft>
              <a:buSzPct val="100000"/>
              <a:buChar char="✓"/>
            </a:pPr>
            <a:r>
              <a:rPr lang="en-US" sz="1350" dirty="0">
                <a:solidFill>
                  <a:srgbClr val="5B6663"/>
                </a:solidFill>
                <a:latin typeface="Calibri" pitchFamily="34" charset="0"/>
                <a:ea typeface="Calibri" pitchFamily="34" charset="-122"/>
                <a:cs typeface="Calibri" pitchFamily="34" charset="-120"/>
              </a:rPr>
              <a:t>Subject confirmed — teacher checks the AI's suggestion</a:t>
            </a:r>
            <a:endParaRPr lang="en-US" sz="1350" dirty="0"/>
          </a:p>
          <a:p>
            <a:pPr marL="342900" indent="-342900">
              <a:spcAft>
                <a:spcPts val="800"/>
              </a:spcAft>
              <a:buSzPct val="100000"/>
              <a:buChar char="✓"/>
            </a:pPr>
            <a:r>
              <a:rPr lang="en-US" sz="1350" dirty="0">
                <a:solidFill>
                  <a:srgbClr val="5B6663"/>
                </a:solidFill>
                <a:latin typeface="Calibri" pitchFamily="34" charset="0"/>
                <a:ea typeface="Calibri" pitchFamily="34" charset="-122"/>
                <a:cs typeface="Calibri" pitchFamily="34" charset="-120"/>
              </a:rPr>
              <a:t>Rights confirmed — “it's mine to use with students”</a:t>
            </a:r>
            <a:endParaRPr lang="en-US" sz="1350" dirty="0"/>
          </a:p>
          <a:p>
            <a:pPr marL="342900" indent="-342900">
              <a:spcAft>
                <a:spcPts val="800"/>
              </a:spcAft>
              <a:buSzPct val="100000"/>
              <a:buChar char="✓"/>
            </a:pPr>
            <a:r>
              <a:rPr lang="en-US" sz="1350" dirty="0">
                <a:solidFill>
                  <a:srgbClr val="5B6663"/>
                </a:solidFill>
                <a:latin typeface="Calibri" pitchFamily="34" charset="0"/>
                <a:ea typeface="Calibri" pitchFamily="34" charset="-122"/>
                <a:cs typeface="Calibri" pitchFamily="34" charset="-120"/>
              </a:rPr>
              <a:t>Approved — nothing reaches students before this</a:t>
            </a:r>
            <a:endParaRPr lang="en-US" sz="1350" dirty="0"/>
          </a:p>
          <a:p>
            <a:pPr marL="342900" indent="-342900">
              <a:spcAft>
                <a:spcPts val="800"/>
              </a:spcAft>
              <a:buSzPct val="100000"/>
              <a:buChar char="✓"/>
            </a:pPr>
            <a:r>
              <a:rPr lang="en-US" sz="1350" dirty="0">
                <a:solidFill>
                  <a:srgbClr val="5B6663"/>
                </a:solidFill>
                <a:latin typeface="Calibri" pitchFamily="34" charset="0"/>
                <a:ea typeface="Calibri" pitchFamily="34" charset="-122"/>
                <a:cs typeface="Calibri" pitchFamily="34" charset="-120"/>
              </a:rPr>
              <a:t>Filed in the curriculum — Year + Subject, one decision</a:t>
            </a:r>
            <a:endParaRPr lang="en-US" sz="1350" dirty="0"/>
          </a:p>
        </p:txBody>
      </p:sp>
      <p:sp>
        <p:nvSpPr>
          <p:cNvPr id="7" name="Shape 5"/>
          <p:cNvSpPr/>
          <p:nvPr/>
        </p:nvSpPr>
        <p:spPr>
          <a:xfrm>
            <a:off x="6446520" y="1892808"/>
            <a:ext cx="566928" cy="566928"/>
          </a:xfrm>
          <a:prstGeom prst="ellipse">
            <a:avLst/>
          </a:prstGeom>
          <a:solidFill>
            <a:srgbClr val="DCEEEA"/>
          </a:solidFill>
          <a:ln/>
        </p:spPr>
      </p:sp>
      <p:pic>
        <p:nvPicPr>
          <p:cNvPr id="8" name="Image 0" descr="preencoded.png">    </p:cNvPr>
          <p:cNvPicPr>
            <a:picLocks noChangeAspect="1"/>
          </p:cNvPicPr>
          <p:nvPr/>
        </p:nvPicPr>
        <p:blipFill>
          <a:blip r:embed="rId1"/>
          <a:stretch>
            <a:fillRect/>
          </a:stretch>
        </p:blipFill>
        <p:spPr>
          <a:xfrm>
            <a:off x="6593921" y="2040209"/>
            <a:ext cx="272125" cy="272125"/>
          </a:xfrm>
          <a:prstGeom prst="rect">
            <a:avLst/>
          </a:prstGeom>
        </p:spPr>
      </p:pic>
      <p:sp>
        <p:nvSpPr>
          <p:cNvPr id="9" name="Text 6"/>
          <p:cNvSpPr/>
          <p:nvPr/>
        </p:nvSpPr>
        <p:spPr>
          <a:xfrm>
            <a:off x="7178040" y="1801368"/>
            <a:ext cx="4389120" cy="347472"/>
          </a:xfrm>
          <a:prstGeom prst="rect">
            <a:avLst/>
          </a:prstGeom>
          <a:noFill/>
          <a:ln/>
        </p:spPr>
        <p:txBody>
          <a:bodyPr wrap="square" lIns="0" tIns="0" rIns="0" bIns="0" rtlCol="0" anchor="ctr"/>
          <a:lstStyle/>
          <a:p>
            <a:pPr indent="0" marL="0">
              <a:buNone/>
            </a:pPr>
            <a:r>
              <a:rPr lang="en-US" sz="1450" b="1" dirty="0">
                <a:solidFill>
                  <a:srgbClr val="1C2321"/>
                </a:solidFill>
                <a:latin typeface="Calibri" pitchFamily="34" charset="0"/>
                <a:ea typeface="Calibri" pitchFamily="34" charset="-122"/>
                <a:cs typeface="Calibri" pitchFamily="34" charset="-120"/>
              </a:rPr>
              <a:t>File at subject level</a:t>
            </a:r>
            <a:endParaRPr lang="en-US" sz="1450" dirty="0"/>
          </a:p>
        </p:txBody>
      </p:sp>
      <p:sp>
        <p:nvSpPr>
          <p:cNvPr id="10" name="Text 7"/>
          <p:cNvSpPr/>
          <p:nvPr/>
        </p:nvSpPr>
        <p:spPr>
          <a:xfrm>
            <a:off x="7178040" y="2167128"/>
            <a:ext cx="4434840" cy="960120"/>
          </a:xfrm>
          <a:prstGeom prst="rect">
            <a:avLst/>
          </a:prstGeom>
          <a:noFill/>
          <a:ln/>
        </p:spPr>
        <p:txBody>
          <a:bodyPr wrap="square" lIns="0" tIns="0" rIns="0" bIns="0" rtlCol="0" anchor="ctr"/>
          <a:lstStyle/>
          <a:p>
            <a:pPr indent="0" marL="0">
              <a:buNone/>
            </a:pPr>
            <a:r>
              <a:rPr lang="en-US" sz="1200" dirty="0">
                <a:solidFill>
                  <a:srgbClr val="5B6663"/>
                </a:solidFill>
                <a:latin typeface="Calibri" pitchFamily="34" charset="0"/>
                <a:ea typeface="Calibri" pitchFamily="34" charset="-122"/>
                <a:cs typeface="Calibri" pitchFamily="34" charset="-120"/>
              </a:rPr>
              <a:t>A teacher files “Year 8 Technology” — material then grounds all 85 concepts beneath it. Narrowing to one concept stays optional.</a:t>
            </a:r>
            <a:endParaRPr lang="en-US" sz="1200" dirty="0"/>
          </a:p>
        </p:txBody>
      </p:sp>
      <p:sp>
        <p:nvSpPr>
          <p:cNvPr id="11" name="Shape 8"/>
          <p:cNvSpPr/>
          <p:nvPr/>
        </p:nvSpPr>
        <p:spPr>
          <a:xfrm>
            <a:off x="6446520" y="3355848"/>
            <a:ext cx="566928" cy="566928"/>
          </a:xfrm>
          <a:prstGeom prst="ellipse">
            <a:avLst/>
          </a:prstGeom>
          <a:solidFill>
            <a:srgbClr val="DCEEEA"/>
          </a:solidFill>
          <a:ln/>
        </p:spPr>
      </p:sp>
      <p:pic>
        <p:nvPicPr>
          <p:cNvPr id="12" name="Image 1" descr="preencoded.png">    </p:cNvPr>
          <p:cNvPicPr>
            <a:picLocks noChangeAspect="1"/>
          </p:cNvPicPr>
          <p:nvPr/>
        </p:nvPicPr>
        <p:blipFill>
          <a:blip r:embed="rId2"/>
          <a:stretch>
            <a:fillRect/>
          </a:stretch>
        </p:blipFill>
        <p:spPr>
          <a:xfrm>
            <a:off x="6593921" y="3503249"/>
            <a:ext cx="272125" cy="272125"/>
          </a:xfrm>
          <a:prstGeom prst="rect">
            <a:avLst/>
          </a:prstGeom>
        </p:spPr>
      </p:pic>
      <p:sp>
        <p:nvSpPr>
          <p:cNvPr id="13" name="Text 9"/>
          <p:cNvSpPr/>
          <p:nvPr/>
        </p:nvSpPr>
        <p:spPr>
          <a:xfrm>
            <a:off x="7178040" y="3264408"/>
            <a:ext cx="4389120" cy="347472"/>
          </a:xfrm>
          <a:prstGeom prst="rect">
            <a:avLst/>
          </a:prstGeom>
          <a:noFill/>
          <a:ln/>
        </p:spPr>
        <p:txBody>
          <a:bodyPr wrap="square" lIns="0" tIns="0" rIns="0" bIns="0" rtlCol="0" anchor="ctr"/>
          <a:lstStyle/>
          <a:p>
            <a:pPr indent="0" marL="0">
              <a:buNone/>
            </a:pPr>
            <a:r>
              <a:rPr lang="en-US" sz="1450" b="1" dirty="0">
                <a:solidFill>
                  <a:srgbClr val="1C2321"/>
                </a:solidFill>
                <a:latin typeface="Calibri" pitchFamily="34" charset="0"/>
                <a:ea typeface="Calibri" pitchFamily="34" charset="-122"/>
                <a:cs typeface="Calibri" pitchFamily="34" charset="-120"/>
              </a:rPr>
              <a:t>Real files, private extraction</a:t>
            </a:r>
            <a:endParaRPr lang="en-US" sz="1450" dirty="0"/>
          </a:p>
        </p:txBody>
      </p:sp>
      <p:sp>
        <p:nvSpPr>
          <p:cNvPr id="14" name="Text 10"/>
          <p:cNvSpPr/>
          <p:nvPr/>
        </p:nvSpPr>
        <p:spPr>
          <a:xfrm>
            <a:off x="7178040" y="3630168"/>
            <a:ext cx="4434840" cy="960120"/>
          </a:xfrm>
          <a:prstGeom prst="rect">
            <a:avLst/>
          </a:prstGeom>
          <a:noFill/>
          <a:ln/>
        </p:spPr>
        <p:txBody>
          <a:bodyPr wrap="square" lIns="0" tIns="0" rIns="0" bIns="0" rtlCol="0" anchor="ctr"/>
          <a:lstStyle/>
          <a:p>
            <a:pPr indent="0" marL="0">
              <a:buNone/>
            </a:pPr>
            <a:r>
              <a:rPr lang="en-US" sz="1200" dirty="0">
                <a:solidFill>
                  <a:srgbClr val="5B6663"/>
                </a:solidFill>
                <a:latin typeface="Calibri" pitchFamily="34" charset="0"/>
                <a:ea typeface="Calibri" pitchFamily="34" charset="-122"/>
                <a:cs typeface="Calibri" pitchFamily="34" charset="-120"/>
              </a:rPr>
              <a:t>PDF and DOCX text is extracted in the browser — the file itself never leaves the teacher's machine.</a:t>
            </a:r>
            <a:endParaRPr lang="en-US" sz="1200" dirty="0"/>
          </a:p>
        </p:txBody>
      </p:sp>
      <p:sp>
        <p:nvSpPr>
          <p:cNvPr id="15" name="Shape 11"/>
          <p:cNvSpPr/>
          <p:nvPr/>
        </p:nvSpPr>
        <p:spPr>
          <a:xfrm>
            <a:off x="6446520" y="4818888"/>
            <a:ext cx="566928" cy="566928"/>
          </a:xfrm>
          <a:prstGeom prst="ellipse">
            <a:avLst/>
          </a:prstGeom>
          <a:solidFill>
            <a:srgbClr val="DCEEEA"/>
          </a:solidFill>
          <a:ln/>
        </p:spPr>
      </p:sp>
      <p:pic>
        <p:nvPicPr>
          <p:cNvPr id="16" name="Image 2" descr="preencoded.png">    </p:cNvPr>
          <p:cNvPicPr>
            <a:picLocks noChangeAspect="1"/>
          </p:cNvPicPr>
          <p:nvPr/>
        </p:nvPicPr>
        <p:blipFill>
          <a:blip r:embed="rId3"/>
          <a:stretch>
            <a:fillRect/>
          </a:stretch>
        </p:blipFill>
        <p:spPr>
          <a:xfrm>
            <a:off x="6593921" y="4966289"/>
            <a:ext cx="272125" cy="272125"/>
          </a:xfrm>
          <a:prstGeom prst="rect">
            <a:avLst/>
          </a:prstGeom>
        </p:spPr>
      </p:pic>
      <p:sp>
        <p:nvSpPr>
          <p:cNvPr id="17" name="Text 12"/>
          <p:cNvSpPr/>
          <p:nvPr/>
        </p:nvSpPr>
        <p:spPr>
          <a:xfrm>
            <a:off x="7178040" y="4727448"/>
            <a:ext cx="4389120" cy="347472"/>
          </a:xfrm>
          <a:prstGeom prst="rect">
            <a:avLst/>
          </a:prstGeom>
          <a:noFill/>
          <a:ln/>
        </p:spPr>
        <p:txBody>
          <a:bodyPr wrap="square" lIns="0" tIns="0" rIns="0" bIns="0" rtlCol="0" anchor="ctr"/>
          <a:lstStyle/>
          <a:p>
            <a:pPr indent="0" marL="0">
              <a:buNone/>
            </a:pPr>
            <a:r>
              <a:rPr lang="en-US" sz="1450" b="1" dirty="0">
                <a:solidFill>
                  <a:srgbClr val="1C2321"/>
                </a:solidFill>
                <a:latin typeface="Calibri" pitchFamily="34" charset="0"/>
                <a:ea typeface="Calibri" pitchFamily="34" charset="-122"/>
                <a:cs typeface="Calibri" pitchFamily="34" charset="-120"/>
              </a:rPr>
              <a:t>Honest states throughout</a:t>
            </a:r>
            <a:endParaRPr lang="en-US" sz="1450" dirty="0"/>
          </a:p>
        </p:txBody>
      </p:sp>
      <p:sp>
        <p:nvSpPr>
          <p:cNvPr id="18" name="Text 13"/>
          <p:cNvSpPr/>
          <p:nvPr/>
        </p:nvSpPr>
        <p:spPr>
          <a:xfrm>
            <a:off x="7178040" y="5093208"/>
            <a:ext cx="4434840" cy="960120"/>
          </a:xfrm>
          <a:prstGeom prst="rect">
            <a:avLst/>
          </a:prstGeom>
          <a:noFill/>
          <a:ln/>
        </p:spPr>
        <p:txBody>
          <a:bodyPr wrap="square" lIns="0" tIns="0" rIns="0" bIns="0" rtlCol="0" anchor="ctr"/>
          <a:lstStyle/>
          <a:p>
            <a:pPr indent="0" marL="0">
              <a:buNone/>
            </a:pPr>
            <a:r>
              <a:rPr lang="en-US" sz="1200" dirty="0">
                <a:solidFill>
                  <a:srgbClr val="5B6663"/>
                </a:solidFill>
                <a:latin typeface="Calibri" pitchFamily="34" charset="0"/>
                <a:ea typeface="Calibri" pitchFamily="34" charset="-122"/>
                <a:cs typeface="Calibri" pitchFamily="34" charset="-120"/>
              </a:rPr>
              <a:t>One status chip per item. A file that can't be read says so; nothing advances by itself.</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5"/>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200" kern="0" dirty="0">
                <a:solidFill>
                  <a:srgbClr val="1F6F63"/>
                </a:solidFill>
                <a:latin typeface="Calibri" pitchFamily="34" charset="0"/>
                <a:ea typeface="Calibri" pitchFamily="34" charset="-122"/>
                <a:cs typeface="Calibri" pitchFamily="34" charset="-120"/>
              </a:rPr>
              <a:t>TEACHER · CURRICULA</a:t>
            </a:r>
            <a:endParaRPr lang="en-US" sz="1200" dirty="0"/>
          </a:p>
        </p:txBody>
      </p:sp>
      <p:sp>
        <p:nvSpPr>
          <p:cNvPr id="3" name="Text 1"/>
          <p:cNvSpPr/>
          <p:nvPr/>
        </p:nvSpPr>
        <p:spPr>
          <a:xfrm>
            <a:off x="548640" y="621792"/>
            <a:ext cx="11091672" cy="685800"/>
          </a:xfrm>
          <a:prstGeom prst="rect">
            <a:avLst/>
          </a:prstGeom>
          <a:noFill/>
          <a:ln/>
        </p:spPr>
        <p:txBody>
          <a:bodyPr wrap="square" lIns="0" tIns="0" rIns="0" bIns="0" rtlCol="0" anchor="ctr"/>
          <a:lstStyle/>
          <a:p>
            <a:pPr indent="0" marL="0">
              <a:buNone/>
            </a:pPr>
            <a:r>
              <a:rPr lang="en-US" sz="3300" b="1" dirty="0">
                <a:solidFill>
                  <a:srgbClr val="1C2321"/>
                </a:solidFill>
                <a:latin typeface="Cambria" pitchFamily="34" charset="0"/>
                <a:ea typeface="Cambria" pitchFamily="34" charset="-122"/>
                <a:cs typeface="Cambria" pitchFamily="34" charset="-120"/>
              </a:rPr>
              <a:t>Real curricula, drafted from real syllabi</a:t>
            </a:r>
            <a:endParaRPr lang="en-US" sz="3300" dirty="0"/>
          </a:p>
        </p:txBody>
      </p:sp>
      <p:sp>
        <p:nvSpPr>
          <p:cNvPr id="4" name="Shape 2"/>
          <p:cNvSpPr/>
          <p:nvPr/>
        </p:nvSpPr>
        <p:spPr>
          <a:xfrm>
            <a:off x="548640" y="1783080"/>
            <a:ext cx="3453384" cy="2286000"/>
          </a:xfrm>
          <a:prstGeom prst="roundRect">
            <a:avLst>
              <a:gd name="adj" fmla="val 3600"/>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5" name="Text 3"/>
          <p:cNvSpPr/>
          <p:nvPr/>
        </p:nvSpPr>
        <p:spPr>
          <a:xfrm>
            <a:off x="822960" y="1965960"/>
            <a:ext cx="2904744" cy="960120"/>
          </a:xfrm>
          <a:prstGeom prst="rect">
            <a:avLst/>
          </a:prstGeom>
          <a:noFill/>
          <a:ln/>
        </p:spPr>
        <p:txBody>
          <a:bodyPr wrap="square" lIns="0" tIns="0" rIns="0" bIns="0" rtlCol="0" anchor="ctr"/>
          <a:lstStyle/>
          <a:p>
            <a:pPr indent="0" marL="0">
              <a:buNone/>
            </a:pPr>
            <a:r>
              <a:rPr lang="en-US" sz="6000" b="1" dirty="0">
                <a:solidFill>
                  <a:srgbClr val="1F6F63"/>
                </a:solidFill>
                <a:latin typeface="Cambria" pitchFamily="34" charset="0"/>
                <a:ea typeface="Cambria" pitchFamily="34" charset="-122"/>
                <a:cs typeface="Cambria" pitchFamily="34" charset="-120"/>
              </a:rPr>
              <a:t>85</a:t>
            </a:r>
            <a:endParaRPr lang="en-US" sz="6000" dirty="0"/>
          </a:p>
        </p:txBody>
      </p:sp>
      <p:sp>
        <p:nvSpPr>
          <p:cNvPr id="6" name="Text 4"/>
          <p:cNvSpPr/>
          <p:nvPr/>
        </p:nvSpPr>
        <p:spPr>
          <a:xfrm>
            <a:off x="841248" y="3017520"/>
            <a:ext cx="2868168" cy="914400"/>
          </a:xfrm>
          <a:prstGeom prst="rect">
            <a:avLst/>
          </a:prstGeom>
          <a:noFill/>
          <a:ln/>
        </p:spPr>
        <p:txBody>
          <a:bodyPr wrap="square" lIns="0" tIns="0" rIns="0" bIns="0" rtlCol="0" anchor="ctr"/>
          <a:lstStyle/>
          <a:p>
            <a:pPr indent="0" marL="0">
              <a:buNone/>
            </a:pPr>
            <a:r>
              <a:rPr lang="en-US" sz="1250" dirty="0">
                <a:solidFill>
                  <a:srgbClr val="5B6663"/>
                </a:solidFill>
                <a:latin typeface="Calibri" pitchFamily="34" charset="0"/>
                <a:ea typeface="Calibri" pitchFamily="34" charset="-122"/>
                <a:cs typeface="Calibri" pitchFamily="34" charset="-120"/>
              </a:rPr>
              <a:t>concepts drafted from the school's real NESA Technology 7–8 PDF</a:t>
            </a:r>
            <a:endParaRPr lang="en-US" sz="1250" dirty="0"/>
          </a:p>
        </p:txBody>
      </p:sp>
      <p:sp>
        <p:nvSpPr>
          <p:cNvPr id="7" name="Shape 5"/>
          <p:cNvSpPr/>
          <p:nvPr/>
        </p:nvSpPr>
        <p:spPr>
          <a:xfrm>
            <a:off x="4367784" y="1783080"/>
            <a:ext cx="3453384" cy="2286000"/>
          </a:xfrm>
          <a:prstGeom prst="roundRect">
            <a:avLst>
              <a:gd name="adj" fmla="val 3600"/>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8" name="Text 6"/>
          <p:cNvSpPr/>
          <p:nvPr/>
        </p:nvSpPr>
        <p:spPr>
          <a:xfrm>
            <a:off x="4642104" y="1965960"/>
            <a:ext cx="2904744" cy="960120"/>
          </a:xfrm>
          <a:prstGeom prst="rect">
            <a:avLst/>
          </a:prstGeom>
          <a:noFill/>
          <a:ln/>
        </p:spPr>
        <p:txBody>
          <a:bodyPr wrap="square" lIns="0" tIns="0" rIns="0" bIns="0" rtlCol="0" anchor="ctr"/>
          <a:lstStyle/>
          <a:p>
            <a:pPr indent="0" marL="0">
              <a:buNone/>
            </a:pPr>
            <a:r>
              <a:rPr lang="en-US" sz="6000" b="1" dirty="0">
                <a:solidFill>
                  <a:srgbClr val="1F6F63"/>
                </a:solidFill>
                <a:latin typeface="Cambria" pitchFamily="34" charset="0"/>
                <a:ea typeface="Cambria" pitchFamily="34" charset="-122"/>
                <a:cs typeface="Cambria" pitchFamily="34" charset="-120"/>
              </a:rPr>
              <a:t>13</a:t>
            </a:r>
            <a:endParaRPr lang="en-US" sz="6000" dirty="0"/>
          </a:p>
        </p:txBody>
      </p:sp>
      <p:sp>
        <p:nvSpPr>
          <p:cNvPr id="9" name="Text 7"/>
          <p:cNvSpPr/>
          <p:nvPr/>
        </p:nvSpPr>
        <p:spPr>
          <a:xfrm>
            <a:off x="4660392" y="3017520"/>
            <a:ext cx="2868168" cy="914400"/>
          </a:xfrm>
          <a:prstGeom prst="rect">
            <a:avLst/>
          </a:prstGeom>
          <a:noFill/>
          <a:ln/>
        </p:spPr>
        <p:txBody>
          <a:bodyPr wrap="square" lIns="0" tIns="0" rIns="0" bIns="0" rtlCol="0" anchor="ctr"/>
          <a:lstStyle/>
          <a:p>
            <a:pPr indent="0" marL="0">
              <a:buNone/>
            </a:pPr>
            <a:r>
              <a:rPr lang="en-US" sz="1250" dirty="0">
                <a:solidFill>
                  <a:srgbClr val="5B6663"/>
                </a:solidFill>
                <a:latin typeface="Calibri" pitchFamily="34" charset="0"/>
                <a:ea typeface="Calibri" pitchFamily="34" charset="-122"/>
                <a:cs typeface="Calibri" pitchFamily="34" charset="-120"/>
              </a:rPr>
              <a:t>concepts in the signed-off Year 8 Mathematics curriculum</a:t>
            </a:r>
            <a:endParaRPr lang="en-US" sz="1250" dirty="0"/>
          </a:p>
        </p:txBody>
      </p:sp>
      <p:sp>
        <p:nvSpPr>
          <p:cNvPr id="10" name="Shape 8"/>
          <p:cNvSpPr/>
          <p:nvPr/>
        </p:nvSpPr>
        <p:spPr>
          <a:xfrm>
            <a:off x="8186928" y="1783080"/>
            <a:ext cx="3453384" cy="2286000"/>
          </a:xfrm>
          <a:prstGeom prst="roundRect">
            <a:avLst>
              <a:gd name="adj" fmla="val 3600"/>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11" name="Text 9"/>
          <p:cNvSpPr/>
          <p:nvPr/>
        </p:nvSpPr>
        <p:spPr>
          <a:xfrm>
            <a:off x="8461248" y="1965960"/>
            <a:ext cx="2904744" cy="960120"/>
          </a:xfrm>
          <a:prstGeom prst="rect">
            <a:avLst/>
          </a:prstGeom>
          <a:noFill/>
          <a:ln/>
        </p:spPr>
        <p:txBody>
          <a:bodyPr wrap="square" lIns="0" tIns="0" rIns="0" bIns="0" rtlCol="0" anchor="ctr"/>
          <a:lstStyle/>
          <a:p>
            <a:pPr indent="0" marL="0">
              <a:buNone/>
            </a:pPr>
            <a:r>
              <a:rPr lang="en-US" sz="6000" b="1" dirty="0">
                <a:solidFill>
                  <a:srgbClr val="1F6F63"/>
                </a:solidFill>
                <a:latin typeface="Cambria" pitchFamily="34" charset="0"/>
                <a:ea typeface="Cambria" pitchFamily="34" charset="-122"/>
                <a:cs typeface="Cambria" pitchFamily="34" charset="-120"/>
              </a:rPr>
              <a:t>0</a:t>
            </a:r>
            <a:endParaRPr lang="en-US" sz="6000" dirty="0"/>
          </a:p>
        </p:txBody>
      </p:sp>
      <p:sp>
        <p:nvSpPr>
          <p:cNvPr id="12" name="Text 10"/>
          <p:cNvSpPr/>
          <p:nvPr/>
        </p:nvSpPr>
        <p:spPr>
          <a:xfrm>
            <a:off x="8479536" y="3017520"/>
            <a:ext cx="2868168" cy="914400"/>
          </a:xfrm>
          <a:prstGeom prst="rect">
            <a:avLst/>
          </a:prstGeom>
          <a:noFill/>
          <a:ln/>
        </p:spPr>
        <p:txBody>
          <a:bodyPr wrap="square" lIns="0" tIns="0" rIns="0" bIns="0" rtlCol="0" anchor="ctr"/>
          <a:lstStyle/>
          <a:p>
            <a:pPr indent="0" marL="0">
              <a:buNone/>
            </a:pPr>
            <a:r>
              <a:rPr lang="en-US" sz="1250" dirty="0">
                <a:solidFill>
                  <a:srgbClr val="5B6663"/>
                </a:solidFill>
                <a:latin typeface="Calibri" pitchFamily="34" charset="0"/>
                <a:ea typeface="Calibri" pitchFamily="34" charset="-122"/>
                <a:cs typeface="Calibri" pitchFamily="34" charset="-120"/>
              </a:rPr>
              <a:t>concepts invented by the AI — it may only use the syllabus's own text</a:t>
            </a:r>
            <a:endParaRPr lang="en-US" sz="1250" dirty="0"/>
          </a:p>
        </p:txBody>
      </p:sp>
      <p:sp>
        <p:nvSpPr>
          <p:cNvPr id="13" name="Shape 11"/>
          <p:cNvSpPr/>
          <p:nvPr/>
        </p:nvSpPr>
        <p:spPr>
          <a:xfrm>
            <a:off x="548640" y="4434840"/>
            <a:ext cx="11091672" cy="1600200"/>
          </a:xfrm>
          <a:prstGeom prst="roundRect">
            <a:avLst>
              <a:gd name="adj" fmla="val 5143"/>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14" name="Shape 12"/>
          <p:cNvSpPr/>
          <p:nvPr/>
        </p:nvSpPr>
        <p:spPr>
          <a:xfrm>
            <a:off x="868680" y="4709160"/>
            <a:ext cx="640080" cy="640080"/>
          </a:xfrm>
          <a:prstGeom prst="ellipse">
            <a:avLst/>
          </a:prstGeom>
          <a:solidFill>
            <a:srgbClr val="DCEEEA"/>
          </a:solidFill>
          <a:ln/>
        </p:spPr>
      </p:sp>
      <p:pic>
        <p:nvPicPr>
          <p:cNvPr id="15" name="Image 0" descr="preencoded.png">    </p:cNvPr>
          <p:cNvPicPr>
            <a:picLocks noChangeAspect="1"/>
          </p:cNvPicPr>
          <p:nvPr/>
        </p:nvPicPr>
        <p:blipFill>
          <a:blip r:embed="rId1"/>
          <a:stretch>
            <a:fillRect/>
          </a:stretch>
        </p:blipFill>
        <p:spPr>
          <a:xfrm>
            <a:off x="1035101" y="4875581"/>
            <a:ext cx="307238" cy="307238"/>
          </a:xfrm>
          <a:prstGeom prst="rect">
            <a:avLst/>
          </a:prstGeom>
        </p:spPr>
      </p:pic>
      <p:sp>
        <p:nvSpPr>
          <p:cNvPr id="16" name="Text 13"/>
          <p:cNvSpPr/>
          <p:nvPr/>
        </p:nvSpPr>
        <p:spPr>
          <a:xfrm>
            <a:off x="1737360" y="4617720"/>
            <a:ext cx="9875520" cy="411480"/>
          </a:xfrm>
          <a:prstGeom prst="rect">
            <a:avLst/>
          </a:prstGeom>
          <a:noFill/>
          <a:ln/>
        </p:spPr>
        <p:txBody>
          <a:bodyPr wrap="square" lIns="0" tIns="0" rIns="0" bIns="0" rtlCol="0" anchor="ctr"/>
          <a:lstStyle/>
          <a:p>
            <a:pPr indent="0" marL="0">
              <a:buNone/>
            </a:pPr>
            <a:r>
              <a:rPr lang="en-US" sz="1600" b="1" dirty="0">
                <a:solidFill>
                  <a:srgbClr val="1C2321"/>
                </a:solidFill>
                <a:latin typeface="Calibri" pitchFamily="34" charset="0"/>
                <a:ea typeface="Calibri" pitchFamily="34" charset="-122"/>
                <a:cs typeface="Calibri" pitchFamily="34" charset="-120"/>
              </a:rPr>
              <a:t>Drafts are never trusted — a teacher signs off</a:t>
            </a:r>
            <a:endParaRPr lang="en-US" sz="1600" dirty="0"/>
          </a:p>
        </p:txBody>
      </p:sp>
      <p:sp>
        <p:nvSpPr>
          <p:cNvPr id="17" name="Text 14"/>
          <p:cNvSpPr/>
          <p:nvPr/>
        </p:nvSpPr>
        <p:spPr>
          <a:xfrm>
            <a:off x="1737360" y="5029200"/>
            <a:ext cx="9966960" cy="914400"/>
          </a:xfrm>
          <a:prstGeom prst="rect">
            <a:avLst/>
          </a:prstGeom>
          <a:noFill/>
          <a:ln/>
        </p:spPr>
        <p:txBody>
          <a:bodyPr wrap="square" lIns="0" tIns="0" rIns="0" bIns="0" rtlCol="0" anchor="ctr"/>
          <a:lstStyle/>
          <a:p>
            <a:pPr indent="0" marL="0">
              <a:buNone/>
            </a:pPr>
            <a:r>
              <a:rPr lang="en-US" sz="1250" dirty="0">
                <a:solidFill>
                  <a:srgbClr val="5B6663"/>
                </a:solidFill>
                <a:latin typeface="Calibri" pitchFamily="34" charset="0"/>
                <a:ea typeface="Calibri" pitchFamily="34" charset="-122"/>
                <a:cs typeface="Calibri" pitchFamily="34" charset="-120"/>
              </a:rPr>
              <a:t>The drafted curriculum opens for review inside Content Studio: rename or remove concepts, then sign off. Only signed-off curricula can be mapped or generated against, and the audit trail records exactly who certified which version.</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5"/>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200" kern="0" dirty="0">
                <a:solidFill>
                  <a:srgbClr val="1F6F63"/>
                </a:solidFill>
                <a:latin typeface="Calibri" pitchFamily="34" charset="0"/>
                <a:ea typeface="Calibri" pitchFamily="34" charset="-122"/>
                <a:cs typeface="Calibri" pitchFamily="34" charset="-120"/>
              </a:rPr>
              <a:t>TEACHER · SHARED LIBRARY</a:t>
            </a:r>
            <a:endParaRPr lang="en-US" sz="1200" dirty="0"/>
          </a:p>
        </p:txBody>
      </p:sp>
      <p:sp>
        <p:nvSpPr>
          <p:cNvPr id="3" name="Text 1"/>
          <p:cNvSpPr/>
          <p:nvPr/>
        </p:nvSpPr>
        <p:spPr>
          <a:xfrm>
            <a:off x="548640" y="621792"/>
            <a:ext cx="11091672" cy="685800"/>
          </a:xfrm>
          <a:prstGeom prst="rect">
            <a:avLst/>
          </a:prstGeom>
          <a:noFill/>
          <a:ln/>
        </p:spPr>
        <p:txBody>
          <a:bodyPr wrap="square" lIns="0" tIns="0" rIns="0" bIns="0" rtlCol="0" anchor="ctr"/>
          <a:lstStyle/>
          <a:p>
            <a:pPr indent="0" marL="0">
              <a:buNone/>
            </a:pPr>
            <a:r>
              <a:rPr lang="en-US" sz="3300" b="1" dirty="0">
                <a:solidFill>
                  <a:srgbClr val="1C2321"/>
                </a:solidFill>
                <a:latin typeface="Cambria" pitchFamily="34" charset="0"/>
                <a:ea typeface="Cambria" pitchFamily="34" charset="-122"/>
                <a:cs typeface="Cambria" pitchFamily="34" charset="-120"/>
              </a:rPr>
              <a:t>Colleagues share material — and stay in control</a:t>
            </a:r>
            <a:endParaRPr lang="en-US" sz="3300" dirty="0"/>
          </a:p>
        </p:txBody>
      </p:sp>
      <p:sp>
        <p:nvSpPr>
          <p:cNvPr id="4" name="Shape 2"/>
          <p:cNvSpPr/>
          <p:nvPr/>
        </p:nvSpPr>
        <p:spPr>
          <a:xfrm>
            <a:off x="548640" y="1783080"/>
            <a:ext cx="3453384" cy="3200400"/>
          </a:xfrm>
          <a:prstGeom prst="roundRect">
            <a:avLst>
              <a:gd name="adj" fmla="val 2571"/>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5" name="Shape 3"/>
          <p:cNvSpPr/>
          <p:nvPr/>
        </p:nvSpPr>
        <p:spPr>
          <a:xfrm>
            <a:off x="868680" y="2103120"/>
            <a:ext cx="640080" cy="640080"/>
          </a:xfrm>
          <a:prstGeom prst="ellipse">
            <a:avLst/>
          </a:prstGeom>
          <a:solidFill>
            <a:srgbClr val="DCEEEA"/>
          </a:solidFill>
          <a:ln/>
        </p:spPr>
      </p:sp>
      <p:pic>
        <p:nvPicPr>
          <p:cNvPr id="6" name="Image 0" descr="preencoded.png">    </p:cNvPr>
          <p:cNvPicPr>
            <a:picLocks noChangeAspect="1"/>
          </p:cNvPicPr>
          <p:nvPr/>
        </p:nvPicPr>
        <p:blipFill>
          <a:blip r:embed="rId1"/>
          <a:stretch>
            <a:fillRect/>
          </a:stretch>
        </p:blipFill>
        <p:spPr>
          <a:xfrm>
            <a:off x="1035101" y="2269541"/>
            <a:ext cx="307238" cy="307238"/>
          </a:xfrm>
          <a:prstGeom prst="rect">
            <a:avLst/>
          </a:prstGeom>
        </p:spPr>
      </p:pic>
      <p:sp>
        <p:nvSpPr>
          <p:cNvPr id="7" name="Text 4"/>
          <p:cNvSpPr/>
          <p:nvPr/>
        </p:nvSpPr>
        <p:spPr>
          <a:xfrm>
            <a:off x="868680" y="2926080"/>
            <a:ext cx="2813304" cy="640080"/>
          </a:xfrm>
          <a:prstGeom prst="rect">
            <a:avLst/>
          </a:prstGeom>
          <a:noFill/>
          <a:ln/>
        </p:spPr>
        <p:txBody>
          <a:bodyPr wrap="square" lIns="0" tIns="0" rIns="0" bIns="0" rtlCol="0" anchor="ctr"/>
          <a:lstStyle/>
          <a:p>
            <a:pPr indent="0" marL="0">
              <a:buNone/>
            </a:pPr>
            <a:r>
              <a:rPr lang="en-US" sz="1550" b="1" dirty="0">
                <a:solidFill>
                  <a:srgbClr val="1C2321"/>
                </a:solidFill>
                <a:latin typeface="Calibri" pitchFamily="34" charset="0"/>
                <a:ea typeface="Calibri" pitchFamily="34" charset="-122"/>
                <a:cs typeface="Calibri" pitchFamily="34" charset="-120"/>
              </a:rPr>
              <a:t>Share on your terms</a:t>
            </a:r>
            <a:endParaRPr lang="en-US" sz="1550" dirty="0"/>
          </a:p>
        </p:txBody>
      </p:sp>
      <p:sp>
        <p:nvSpPr>
          <p:cNvPr id="8" name="Text 5"/>
          <p:cNvSpPr/>
          <p:nvPr/>
        </p:nvSpPr>
        <p:spPr>
          <a:xfrm>
            <a:off x="868680" y="3611880"/>
            <a:ext cx="2813304" cy="1280160"/>
          </a:xfrm>
          <a:prstGeom prst="rect">
            <a:avLst/>
          </a:prstGeom>
          <a:noFill/>
          <a:ln/>
        </p:spPr>
        <p:txBody>
          <a:bodyPr wrap="square" lIns="0" tIns="0" rIns="0" bIns="0" rtlCol="0" anchor="ctr"/>
          <a:lstStyle/>
          <a:p>
            <a:pPr indent="0" marL="0">
              <a:buNone/>
            </a:pPr>
            <a:r>
              <a:rPr lang="en-US" sz="1200" dirty="0">
                <a:solidFill>
                  <a:srgbClr val="5B6663"/>
                </a:solidFill>
                <a:latin typeface="Calibri" pitchFamily="34" charset="0"/>
                <a:ea typeface="Calibri" pitchFamily="34" charset="-122"/>
                <a:cs typeface="Calibri" pitchFamily="34" charset="-120"/>
              </a:rPr>
              <a:t>Private by default. Share to a class or your department; tagging a document as the official syllabus shares it with the whole school.</a:t>
            </a:r>
            <a:endParaRPr lang="en-US" sz="1200" dirty="0"/>
          </a:p>
        </p:txBody>
      </p:sp>
      <p:sp>
        <p:nvSpPr>
          <p:cNvPr id="9" name="Shape 6"/>
          <p:cNvSpPr/>
          <p:nvPr/>
        </p:nvSpPr>
        <p:spPr>
          <a:xfrm>
            <a:off x="4367784" y="1783080"/>
            <a:ext cx="3453384" cy="3200400"/>
          </a:xfrm>
          <a:prstGeom prst="roundRect">
            <a:avLst>
              <a:gd name="adj" fmla="val 2571"/>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10" name="Shape 7"/>
          <p:cNvSpPr/>
          <p:nvPr/>
        </p:nvSpPr>
        <p:spPr>
          <a:xfrm>
            <a:off x="4687824" y="2103120"/>
            <a:ext cx="640080" cy="640080"/>
          </a:xfrm>
          <a:prstGeom prst="ellipse">
            <a:avLst/>
          </a:prstGeom>
          <a:solidFill>
            <a:srgbClr val="DCEEEA"/>
          </a:solidFill>
          <a:ln/>
        </p:spPr>
      </p:sp>
      <p:pic>
        <p:nvPicPr>
          <p:cNvPr id="11" name="Image 1" descr="preencoded.png">    </p:cNvPr>
          <p:cNvPicPr>
            <a:picLocks noChangeAspect="1"/>
          </p:cNvPicPr>
          <p:nvPr/>
        </p:nvPicPr>
        <p:blipFill>
          <a:blip r:embed="rId2"/>
          <a:stretch>
            <a:fillRect/>
          </a:stretch>
        </p:blipFill>
        <p:spPr>
          <a:xfrm>
            <a:off x="4854245" y="2269541"/>
            <a:ext cx="307238" cy="307238"/>
          </a:xfrm>
          <a:prstGeom prst="rect">
            <a:avLst/>
          </a:prstGeom>
        </p:spPr>
      </p:pic>
      <p:sp>
        <p:nvSpPr>
          <p:cNvPr id="12" name="Text 8"/>
          <p:cNvSpPr/>
          <p:nvPr/>
        </p:nvSpPr>
        <p:spPr>
          <a:xfrm>
            <a:off x="4687824" y="2926080"/>
            <a:ext cx="2813304" cy="640080"/>
          </a:xfrm>
          <a:prstGeom prst="rect">
            <a:avLst/>
          </a:prstGeom>
          <a:noFill/>
          <a:ln/>
        </p:spPr>
        <p:txBody>
          <a:bodyPr wrap="square" lIns="0" tIns="0" rIns="0" bIns="0" rtlCol="0" anchor="ctr"/>
          <a:lstStyle/>
          <a:p>
            <a:pPr indent="0" marL="0">
              <a:buNone/>
            </a:pPr>
            <a:r>
              <a:rPr lang="en-US" sz="1550" b="1" dirty="0">
                <a:solidFill>
                  <a:srgbClr val="1C2321"/>
                </a:solidFill>
                <a:latin typeface="Calibri" pitchFamily="34" charset="0"/>
                <a:ea typeface="Calibri" pitchFamily="34" charset="-122"/>
                <a:cs typeface="Calibri" pitchFamily="34" charset="-120"/>
              </a:rPr>
              <a:t>Browse “Shared with you”</a:t>
            </a:r>
            <a:endParaRPr lang="en-US" sz="1550" dirty="0"/>
          </a:p>
        </p:txBody>
      </p:sp>
      <p:sp>
        <p:nvSpPr>
          <p:cNvPr id="13" name="Text 9"/>
          <p:cNvSpPr/>
          <p:nvPr/>
        </p:nvSpPr>
        <p:spPr>
          <a:xfrm>
            <a:off x="4687824" y="3611880"/>
            <a:ext cx="2813304" cy="1280160"/>
          </a:xfrm>
          <a:prstGeom prst="rect">
            <a:avLst/>
          </a:prstGeom>
          <a:noFill/>
          <a:ln/>
        </p:spPr>
        <p:txBody>
          <a:bodyPr wrap="square" lIns="0" tIns="0" rIns="0" bIns="0" rtlCol="0" anchor="ctr"/>
          <a:lstStyle/>
          <a:p>
            <a:pPr indent="0" marL="0">
              <a:buNone/>
            </a:pPr>
            <a:r>
              <a:rPr lang="en-US" sz="1200" dirty="0">
                <a:solidFill>
                  <a:srgbClr val="5B6663"/>
                </a:solidFill>
                <a:latin typeface="Calibri" pitchFamily="34" charset="0"/>
                <a:ea typeface="Calibri" pitchFamily="34" charset="-122"/>
                <a:cs typeface="Calibri" pitchFamily="34" charset="-120"/>
              </a:rPr>
              <a:t>Colleagues' material arrives attributed — who shared it, how it reached you, and whether it's ready. Read it in place.</a:t>
            </a:r>
            <a:endParaRPr lang="en-US" sz="1200" dirty="0"/>
          </a:p>
        </p:txBody>
      </p:sp>
      <p:sp>
        <p:nvSpPr>
          <p:cNvPr id="14" name="Shape 10"/>
          <p:cNvSpPr/>
          <p:nvPr/>
        </p:nvSpPr>
        <p:spPr>
          <a:xfrm>
            <a:off x="8186928" y="1783080"/>
            <a:ext cx="3453384" cy="3200400"/>
          </a:xfrm>
          <a:prstGeom prst="roundRect">
            <a:avLst>
              <a:gd name="adj" fmla="val 2571"/>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15" name="Shape 11"/>
          <p:cNvSpPr/>
          <p:nvPr/>
        </p:nvSpPr>
        <p:spPr>
          <a:xfrm>
            <a:off x="8506968" y="2103120"/>
            <a:ext cx="640080" cy="640080"/>
          </a:xfrm>
          <a:prstGeom prst="ellipse">
            <a:avLst/>
          </a:prstGeom>
          <a:solidFill>
            <a:srgbClr val="DCEEEA"/>
          </a:solidFill>
          <a:ln/>
        </p:spPr>
      </p:sp>
      <p:pic>
        <p:nvPicPr>
          <p:cNvPr id="16" name="Image 2" descr="preencoded.png">    </p:cNvPr>
          <p:cNvPicPr>
            <a:picLocks noChangeAspect="1"/>
          </p:cNvPicPr>
          <p:nvPr/>
        </p:nvPicPr>
        <p:blipFill>
          <a:blip r:embed="rId3"/>
          <a:stretch>
            <a:fillRect/>
          </a:stretch>
        </p:blipFill>
        <p:spPr>
          <a:xfrm>
            <a:off x="8673389" y="2269541"/>
            <a:ext cx="307238" cy="307238"/>
          </a:xfrm>
          <a:prstGeom prst="rect">
            <a:avLst/>
          </a:prstGeom>
        </p:spPr>
      </p:pic>
      <p:sp>
        <p:nvSpPr>
          <p:cNvPr id="17" name="Text 12"/>
          <p:cNvSpPr/>
          <p:nvPr/>
        </p:nvSpPr>
        <p:spPr>
          <a:xfrm>
            <a:off x="8506968" y="2926080"/>
            <a:ext cx="2813304" cy="640080"/>
          </a:xfrm>
          <a:prstGeom prst="rect">
            <a:avLst/>
          </a:prstGeom>
          <a:noFill/>
          <a:ln/>
        </p:spPr>
        <p:txBody>
          <a:bodyPr wrap="square" lIns="0" tIns="0" rIns="0" bIns="0" rtlCol="0" anchor="ctr"/>
          <a:lstStyle/>
          <a:p>
            <a:pPr indent="0" marL="0">
              <a:buNone/>
            </a:pPr>
            <a:r>
              <a:rPr lang="en-US" sz="1550" b="1" dirty="0">
                <a:solidFill>
                  <a:srgbClr val="1C2321"/>
                </a:solidFill>
                <a:latin typeface="Calibri" pitchFamily="34" charset="0"/>
                <a:ea typeface="Calibri" pitchFamily="34" charset="-122"/>
                <a:cs typeface="Calibri" pitchFamily="34" charset="-120"/>
              </a:rPr>
              <a:t>Read and reuse — never manage</a:t>
            </a:r>
            <a:endParaRPr lang="en-US" sz="1550" dirty="0"/>
          </a:p>
        </p:txBody>
      </p:sp>
      <p:sp>
        <p:nvSpPr>
          <p:cNvPr id="18" name="Text 13"/>
          <p:cNvSpPr/>
          <p:nvPr/>
        </p:nvSpPr>
        <p:spPr>
          <a:xfrm>
            <a:off x="8506968" y="3611880"/>
            <a:ext cx="2813304" cy="1280160"/>
          </a:xfrm>
          <a:prstGeom prst="rect">
            <a:avLst/>
          </a:prstGeom>
          <a:noFill/>
          <a:ln/>
        </p:spPr>
        <p:txBody>
          <a:bodyPr wrap="square" lIns="0" tIns="0" rIns="0" bIns="0" rtlCol="0" anchor="ctr"/>
          <a:lstStyle/>
          <a:p>
            <a:pPr indent="0" marL="0">
              <a:buNone/>
            </a:pPr>
            <a:r>
              <a:rPr lang="en-US" sz="1200" dirty="0">
                <a:solidFill>
                  <a:srgbClr val="5B6663"/>
                </a:solidFill>
                <a:latin typeface="Calibri" pitchFamily="34" charset="0"/>
                <a:ea typeface="Calibri" pitchFamily="34" charset="-122"/>
                <a:cs typeface="Calibri" pitchFamily="34" charset="-120"/>
              </a:rPr>
              <a:t>A shared item grounds your assessments and drafts with no copying. But approving, archiving or re-sharing it answers NOT_OWNER — that stays with its uploader.</a:t>
            </a:r>
            <a:endParaRPr lang="en-US" sz="1200" dirty="0"/>
          </a:p>
        </p:txBody>
      </p:sp>
      <p:sp>
        <p:nvSpPr>
          <p:cNvPr id="19" name="Shape 14"/>
          <p:cNvSpPr/>
          <p:nvPr/>
        </p:nvSpPr>
        <p:spPr>
          <a:xfrm>
            <a:off x="548640" y="5349240"/>
            <a:ext cx="11091672" cy="777240"/>
          </a:xfrm>
          <a:prstGeom prst="roundRect">
            <a:avLst>
              <a:gd name="adj" fmla="val 10588"/>
            </a:avLst>
          </a:prstGeom>
          <a:solidFill>
            <a:srgbClr val="DCEEEA"/>
          </a:solidFill>
          <a:ln/>
        </p:spPr>
      </p:sp>
      <p:sp>
        <p:nvSpPr>
          <p:cNvPr id="20" name="Text 15"/>
          <p:cNvSpPr/>
          <p:nvPr/>
        </p:nvSpPr>
        <p:spPr>
          <a:xfrm>
            <a:off x="868680" y="5349240"/>
            <a:ext cx="10451592" cy="777240"/>
          </a:xfrm>
          <a:prstGeom prst="rect">
            <a:avLst/>
          </a:prstGeom>
          <a:noFill/>
          <a:ln/>
        </p:spPr>
        <p:txBody>
          <a:bodyPr wrap="square" lIns="0" tIns="0" rIns="0" bIns="0" rtlCol="0" anchor="ctr"/>
          <a:lstStyle/>
          <a:p>
            <a:pPr indent="0" marL="0">
              <a:buNone/>
            </a:pPr>
            <a:r>
              <a:rPr lang="en-US" sz="1350" b="1" dirty="0">
                <a:solidFill>
                  <a:srgbClr val="1C2321"/>
                </a:solidFill>
                <a:latin typeface="Calibri" pitchFamily="34" charset="0"/>
                <a:ea typeface="Calibri" pitchFamily="34" charset="-122"/>
                <a:cs typeface="Calibri" pitchFamily="34" charset="-120"/>
              </a:rPr>
              <a:t>Isolation is absolute:  </a:t>
            </a:r>
            <a:pPr indent="0" marL="0">
              <a:buNone/>
            </a:pPr>
            <a:r>
              <a:rPr lang="en-US" sz="1350" dirty="0">
                <a:solidFill>
                  <a:srgbClr val="1C2321"/>
                </a:solidFill>
                <a:latin typeface="Calibri" pitchFamily="34" charset="0"/>
                <a:ea typeface="Calibri" pitchFamily="34" charset="-122"/>
                <a:cs typeface="Calibri" pitchFamily="34" charset="-120"/>
              </a:rPr>
              <a:t>sharing never crosses schools — even two departments with the same name in different schools stay walled off.</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5"/>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200" kern="0" dirty="0">
                <a:solidFill>
                  <a:srgbClr val="1F6F63"/>
                </a:solidFill>
                <a:latin typeface="Calibri" pitchFamily="34" charset="0"/>
                <a:ea typeface="Calibri" pitchFamily="34" charset="-122"/>
                <a:cs typeface="Calibri" pitchFamily="34" charset="-120"/>
              </a:rPr>
              <a:t>TEACHER · ASSESSMENTS</a:t>
            </a:r>
            <a:endParaRPr lang="en-US" sz="1200" dirty="0"/>
          </a:p>
        </p:txBody>
      </p:sp>
      <p:sp>
        <p:nvSpPr>
          <p:cNvPr id="3" name="Text 1"/>
          <p:cNvSpPr/>
          <p:nvPr/>
        </p:nvSpPr>
        <p:spPr>
          <a:xfrm>
            <a:off x="548640" y="621792"/>
            <a:ext cx="11091672" cy="685800"/>
          </a:xfrm>
          <a:prstGeom prst="rect">
            <a:avLst/>
          </a:prstGeom>
          <a:noFill/>
          <a:ln/>
        </p:spPr>
        <p:txBody>
          <a:bodyPr wrap="square" lIns="0" tIns="0" rIns="0" bIns="0" rtlCol="0" anchor="ctr"/>
          <a:lstStyle/>
          <a:p>
            <a:pPr indent="0" marL="0">
              <a:buNone/>
            </a:pPr>
            <a:r>
              <a:rPr lang="en-US" sz="3300" b="1" dirty="0">
                <a:solidFill>
                  <a:srgbClr val="1C2321"/>
                </a:solidFill>
                <a:latin typeface="Cambria" pitchFamily="34" charset="0"/>
                <a:ea typeface="Cambria" pitchFamily="34" charset="-122"/>
                <a:cs typeface="Cambria" pitchFamily="34" charset="-120"/>
              </a:rPr>
              <a:t>Grounded generation, honest limits</a:t>
            </a:r>
            <a:endParaRPr lang="en-US" sz="3300" dirty="0"/>
          </a:p>
        </p:txBody>
      </p:sp>
      <p:sp>
        <p:nvSpPr>
          <p:cNvPr id="4" name="Shape 2"/>
          <p:cNvSpPr/>
          <p:nvPr/>
        </p:nvSpPr>
        <p:spPr>
          <a:xfrm>
            <a:off x="548640" y="1783080"/>
            <a:ext cx="5486400" cy="4206240"/>
          </a:xfrm>
          <a:prstGeom prst="roundRect">
            <a:avLst>
              <a:gd name="adj" fmla="val 1957"/>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5" name="Text 3"/>
          <p:cNvSpPr/>
          <p:nvPr/>
        </p:nvSpPr>
        <p:spPr>
          <a:xfrm>
            <a:off x="868680" y="2011680"/>
            <a:ext cx="4846320" cy="365760"/>
          </a:xfrm>
          <a:prstGeom prst="rect">
            <a:avLst/>
          </a:prstGeom>
          <a:noFill/>
          <a:ln/>
        </p:spPr>
        <p:txBody>
          <a:bodyPr wrap="square" lIns="0" tIns="0" rIns="0" bIns="0" rtlCol="0" anchor="ctr"/>
          <a:lstStyle/>
          <a:p>
            <a:pPr indent="0" marL="0">
              <a:buNone/>
            </a:pPr>
            <a:r>
              <a:rPr lang="en-US" sz="1600" b="1" dirty="0">
                <a:solidFill>
                  <a:srgbClr val="1C2321"/>
                </a:solidFill>
                <a:latin typeface="Calibri" pitchFamily="34" charset="0"/>
                <a:ea typeface="Calibri" pitchFamily="34" charset="-122"/>
                <a:cs typeface="Calibri" pitchFamily="34" charset="-120"/>
              </a:rPr>
              <a:t>Generate a draft</a:t>
            </a:r>
            <a:endParaRPr lang="en-US" sz="1600" dirty="0"/>
          </a:p>
        </p:txBody>
      </p:sp>
      <p:sp>
        <p:nvSpPr>
          <p:cNvPr id="6" name="Text 4"/>
          <p:cNvSpPr/>
          <p:nvPr/>
        </p:nvSpPr>
        <p:spPr>
          <a:xfrm>
            <a:off x="868680" y="2468880"/>
            <a:ext cx="4892040" cy="329184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5B6663"/>
                </a:solidFill>
                <a:latin typeface="Calibri" pitchFamily="34" charset="0"/>
                <a:ea typeface="Calibri" pitchFamily="34" charset="-122"/>
                <a:cs typeface="Calibri" pitchFamily="34" charset="-120"/>
              </a:rPr>
              <a:t>Pick several concepts at once — one test can span a unit</a:t>
            </a:r>
            <a:endParaRPr lang="en-US" sz="1300" dirty="0"/>
          </a:p>
          <a:p>
            <a:pPr marL="342900" indent="-342900">
              <a:spcAft>
                <a:spcPts val="800"/>
              </a:spcAft>
              <a:buSzPct val="100000"/>
              <a:buChar char="•"/>
            </a:pPr>
            <a:r>
              <a:rPr lang="en-US" sz="1300" dirty="0">
                <a:solidFill>
                  <a:srgbClr val="5B6663"/>
                </a:solidFill>
                <a:latin typeface="Calibri" pitchFamily="34" charset="0"/>
                <a:ea typeface="Calibri" pitchFamily="34" charset="-122"/>
                <a:cs typeface="Calibri" pitchFamily="34" charset="-120"/>
              </a:rPr>
              <a:t>Concepts without approved material are greyed out up front</a:t>
            </a:r>
            <a:endParaRPr lang="en-US" sz="1300" dirty="0"/>
          </a:p>
          <a:p>
            <a:pPr marL="342900" indent="-342900">
              <a:spcAft>
                <a:spcPts val="800"/>
              </a:spcAft>
              <a:buSzPct val="100000"/>
              <a:buChar char="•"/>
            </a:pPr>
            <a:r>
              <a:rPr lang="en-US" sz="1300" dirty="0">
                <a:solidFill>
                  <a:srgbClr val="5B6663"/>
                </a:solidFill>
                <a:latin typeface="Calibri" pitchFamily="34" charset="0"/>
                <a:ea typeface="Calibri" pitchFamily="34" charset="-122"/>
                <a:cs typeface="Calibri" pitchFamily="34" charset="-120"/>
              </a:rPr>
              <a:t>Questions come only from the material behind those concepts</a:t>
            </a:r>
            <a:endParaRPr lang="en-US" sz="1300" dirty="0"/>
          </a:p>
          <a:p>
            <a:pPr marL="342900" indent="-342900">
              <a:spcAft>
                <a:spcPts val="800"/>
              </a:spcAft>
              <a:buSzPct val="100000"/>
              <a:buChar char="•"/>
            </a:pPr>
            <a:r>
              <a:rPr lang="en-US" sz="1300" dirty="0">
                <a:solidFill>
                  <a:srgbClr val="5B6663"/>
                </a:solidFill>
                <a:latin typeface="Calibri" pitchFamily="34" charset="0"/>
                <a:ea typeface="Calibri" pitchFamily="34" charset="-122"/>
                <a:cs typeface="Calibri" pitchFamily="34" charset="-120"/>
              </a:rPr>
              <a:t>Can't ground 10 questions? It makes fewer and says so</a:t>
            </a:r>
            <a:endParaRPr lang="en-US" sz="1300" dirty="0"/>
          </a:p>
          <a:p>
            <a:pPr marL="342900" indent="-342900">
              <a:spcAft>
                <a:spcPts val="800"/>
              </a:spcAft>
              <a:buSzPct val="100000"/>
              <a:buChar char="•"/>
            </a:pPr>
            <a:r>
              <a:rPr lang="en-US" sz="1300" dirty="0">
                <a:solidFill>
                  <a:srgbClr val="5B6663"/>
                </a:solidFill>
                <a:latin typeface="Calibri" pitchFamily="34" charset="0"/>
                <a:ea typeface="Calibri" pitchFamily="34" charset="-122"/>
                <a:cs typeface="Calibri" pitchFamily="34" charset="-120"/>
              </a:rPr>
              <a:t>Review every question, edit or remove, then publish</a:t>
            </a:r>
            <a:endParaRPr lang="en-US" sz="1300" dirty="0"/>
          </a:p>
          <a:p>
            <a:pPr marL="342900" indent="-342900">
              <a:spcAft>
                <a:spcPts val="800"/>
              </a:spcAft>
              <a:buSzPct val="100000"/>
              <a:buChar char="•"/>
            </a:pPr>
            <a:r>
              <a:rPr lang="en-US" sz="1300" dirty="0">
                <a:solidFill>
                  <a:srgbClr val="5B6663"/>
                </a:solidFill>
                <a:latin typeface="Calibri" pitchFamily="34" charset="0"/>
                <a:ea typeface="Calibri" pitchFamily="34" charset="-122"/>
                <a:cs typeface="Calibri" pitchFamily="34" charset="-120"/>
              </a:rPr>
              <a:t>Or write your own from scratch — no AI, same publish gate</a:t>
            </a:r>
            <a:endParaRPr lang="en-US" sz="1300" dirty="0"/>
          </a:p>
        </p:txBody>
      </p:sp>
      <p:sp>
        <p:nvSpPr>
          <p:cNvPr id="7" name="Shape 5"/>
          <p:cNvSpPr/>
          <p:nvPr/>
        </p:nvSpPr>
        <p:spPr>
          <a:xfrm>
            <a:off x="6446520" y="1892808"/>
            <a:ext cx="566928" cy="566928"/>
          </a:xfrm>
          <a:prstGeom prst="ellipse">
            <a:avLst/>
          </a:prstGeom>
          <a:solidFill>
            <a:srgbClr val="DCEEEA"/>
          </a:solidFill>
          <a:ln/>
        </p:spPr>
      </p:sp>
      <p:pic>
        <p:nvPicPr>
          <p:cNvPr id="8" name="Image 0" descr="preencoded.png">    </p:cNvPr>
          <p:cNvPicPr>
            <a:picLocks noChangeAspect="1"/>
          </p:cNvPicPr>
          <p:nvPr/>
        </p:nvPicPr>
        <p:blipFill>
          <a:blip r:embed="rId1"/>
          <a:stretch>
            <a:fillRect/>
          </a:stretch>
        </p:blipFill>
        <p:spPr>
          <a:xfrm>
            <a:off x="6593921" y="2040209"/>
            <a:ext cx="272125" cy="272125"/>
          </a:xfrm>
          <a:prstGeom prst="rect">
            <a:avLst/>
          </a:prstGeom>
        </p:spPr>
      </p:pic>
      <p:sp>
        <p:nvSpPr>
          <p:cNvPr id="9" name="Text 6"/>
          <p:cNvSpPr/>
          <p:nvPr/>
        </p:nvSpPr>
        <p:spPr>
          <a:xfrm>
            <a:off x="7178040" y="1801368"/>
            <a:ext cx="4389120" cy="347472"/>
          </a:xfrm>
          <a:prstGeom prst="rect">
            <a:avLst/>
          </a:prstGeom>
          <a:noFill/>
          <a:ln/>
        </p:spPr>
        <p:txBody>
          <a:bodyPr wrap="square" lIns="0" tIns="0" rIns="0" bIns="0" rtlCol="0" anchor="ctr"/>
          <a:lstStyle/>
          <a:p>
            <a:pPr indent="0" marL="0">
              <a:buNone/>
            </a:pPr>
            <a:r>
              <a:rPr lang="en-US" sz="1450" b="1" dirty="0">
                <a:solidFill>
                  <a:srgbClr val="1C2321"/>
                </a:solidFill>
                <a:latin typeface="Calibri" pitchFamily="34" charset="0"/>
                <a:ea typeface="Calibri" pitchFamily="34" charset="-122"/>
                <a:cs typeface="Calibri" pitchFamily="34" charset="-120"/>
              </a:rPr>
              <a:t>AI grading feeds mastery</a:t>
            </a:r>
            <a:endParaRPr lang="en-US" sz="1450" dirty="0"/>
          </a:p>
        </p:txBody>
      </p:sp>
      <p:sp>
        <p:nvSpPr>
          <p:cNvPr id="10" name="Text 7"/>
          <p:cNvSpPr/>
          <p:nvPr/>
        </p:nvSpPr>
        <p:spPr>
          <a:xfrm>
            <a:off x="7178040" y="2167128"/>
            <a:ext cx="4434840" cy="1051560"/>
          </a:xfrm>
          <a:prstGeom prst="rect">
            <a:avLst/>
          </a:prstGeom>
          <a:noFill/>
          <a:ln/>
        </p:spPr>
        <p:txBody>
          <a:bodyPr wrap="square" lIns="0" tIns="0" rIns="0" bIns="0" rtlCol="0" anchor="ctr"/>
          <a:lstStyle/>
          <a:p>
            <a:pPr indent="0" marL="0">
              <a:buNone/>
            </a:pPr>
            <a:r>
              <a:rPr lang="en-US" sz="1200" dirty="0">
                <a:solidFill>
                  <a:srgbClr val="5B6663"/>
                </a:solidFill>
                <a:latin typeface="Calibri" pitchFamily="34" charset="0"/>
                <a:ea typeface="Calibri" pitchFamily="34" charset="-122"/>
                <a:cs typeface="Calibri" pitchFamily="34" charset="-120"/>
              </a:rPr>
              <a:t>Submitted attempts are graded against each question's model answer and rubric; every covered concept gets a mastery data point.</a:t>
            </a:r>
            <a:endParaRPr lang="en-US" sz="1200" dirty="0"/>
          </a:p>
        </p:txBody>
      </p:sp>
      <p:sp>
        <p:nvSpPr>
          <p:cNvPr id="11" name="Shape 8"/>
          <p:cNvSpPr/>
          <p:nvPr/>
        </p:nvSpPr>
        <p:spPr>
          <a:xfrm>
            <a:off x="6446520" y="3355848"/>
            <a:ext cx="566928" cy="566928"/>
          </a:xfrm>
          <a:prstGeom prst="ellipse">
            <a:avLst/>
          </a:prstGeom>
          <a:solidFill>
            <a:srgbClr val="DCEEEA"/>
          </a:solidFill>
          <a:ln/>
        </p:spPr>
      </p:sp>
      <p:pic>
        <p:nvPicPr>
          <p:cNvPr id="12" name="Image 1" descr="preencoded.png">    </p:cNvPr>
          <p:cNvPicPr>
            <a:picLocks noChangeAspect="1"/>
          </p:cNvPicPr>
          <p:nvPr/>
        </p:nvPicPr>
        <p:blipFill>
          <a:blip r:embed="rId2"/>
          <a:stretch>
            <a:fillRect/>
          </a:stretch>
        </p:blipFill>
        <p:spPr>
          <a:xfrm>
            <a:off x="6593921" y="3503249"/>
            <a:ext cx="272125" cy="272125"/>
          </a:xfrm>
          <a:prstGeom prst="rect">
            <a:avLst/>
          </a:prstGeom>
        </p:spPr>
      </p:pic>
      <p:sp>
        <p:nvSpPr>
          <p:cNvPr id="13" name="Text 9"/>
          <p:cNvSpPr/>
          <p:nvPr/>
        </p:nvSpPr>
        <p:spPr>
          <a:xfrm>
            <a:off x="7178040" y="3264408"/>
            <a:ext cx="4389120" cy="347472"/>
          </a:xfrm>
          <a:prstGeom prst="rect">
            <a:avLst/>
          </a:prstGeom>
          <a:noFill/>
          <a:ln/>
        </p:spPr>
        <p:txBody>
          <a:bodyPr wrap="square" lIns="0" tIns="0" rIns="0" bIns="0" rtlCol="0" anchor="ctr"/>
          <a:lstStyle/>
          <a:p>
            <a:pPr indent="0" marL="0">
              <a:buNone/>
            </a:pPr>
            <a:r>
              <a:rPr lang="en-US" sz="1450" b="1" dirty="0">
                <a:solidFill>
                  <a:srgbClr val="1C2321"/>
                </a:solidFill>
                <a:latin typeface="Calibri" pitchFamily="34" charset="0"/>
                <a:ea typeface="Calibri" pitchFamily="34" charset="-122"/>
                <a:cs typeface="Calibri" pitchFamily="34" charset="-120"/>
              </a:rPr>
              <a:t>Tailored to one student</a:t>
            </a:r>
            <a:endParaRPr lang="en-US" sz="1450" dirty="0"/>
          </a:p>
        </p:txBody>
      </p:sp>
      <p:sp>
        <p:nvSpPr>
          <p:cNvPr id="14" name="Text 10"/>
          <p:cNvSpPr/>
          <p:nvPr/>
        </p:nvSpPr>
        <p:spPr>
          <a:xfrm>
            <a:off x="7178040" y="3630168"/>
            <a:ext cx="4434840" cy="1051560"/>
          </a:xfrm>
          <a:prstGeom prst="rect">
            <a:avLst/>
          </a:prstGeom>
          <a:noFill/>
          <a:ln/>
        </p:spPr>
        <p:txBody>
          <a:bodyPr wrap="square" lIns="0" tIns="0" rIns="0" bIns="0" rtlCol="0" anchor="ctr"/>
          <a:lstStyle/>
          <a:p>
            <a:pPr indent="0" marL="0">
              <a:buNone/>
            </a:pPr>
            <a:r>
              <a:rPr lang="en-US" sz="1200" dirty="0">
                <a:solidFill>
                  <a:srgbClr val="5B6663"/>
                </a:solidFill>
                <a:latin typeface="Calibri" pitchFamily="34" charset="0"/>
                <a:ea typeface="Calibri" pitchFamily="34" charset="-122"/>
                <a:cs typeface="Calibri" pitchFamily="34" charset="-120"/>
              </a:rPr>
              <a:t>From class insights, generate an assessment shaped by one student's adaptive recommendation — with the rationale shown before the questions.</a:t>
            </a:r>
            <a:endParaRPr lang="en-US" sz="1200" dirty="0"/>
          </a:p>
        </p:txBody>
      </p:sp>
      <p:sp>
        <p:nvSpPr>
          <p:cNvPr id="15" name="Shape 11"/>
          <p:cNvSpPr/>
          <p:nvPr/>
        </p:nvSpPr>
        <p:spPr>
          <a:xfrm>
            <a:off x="6446520" y="4818888"/>
            <a:ext cx="566928" cy="566928"/>
          </a:xfrm>
          <a:prstGeom prst="ellipse">
            <a:avLst/>
          </a:prstGeom>
          <a:solidFill>
            <a:srgbClr val="DCEEEA"/>
          </a:solidFill>
          <a:ln/>
        </p:spPr>
      </p:sp>
      <p:pic>
        <p:nvPicPr>
          <p:cNvPr id="16" name="Image 2" descr="preencoded.png">    </p:cNvPr>
          <p:cNvPicPr>
            <a:picLocks noChangeAspect="1"/>
          </p:cNvPicPr>
          <p:nvPr/>
        </p:nvPicPr>
        <p:blipFill>
          <a:blip r:embed="rId3"/>
          <a:stretch>
            <a:fillRect/>
          </a:stretch>
        </p:blipFill>
        <p:spPr>
          <a:xfrm>
            <a:off x="6593921" y="4966289"/>
            <a:ext cx="272125" cy="272125"/>
          </a:xfrm>
          <a:prstGeom prst="rect">
            <a:avLst/>
          </a:prstGeom>
        </p:spPr>
      </p:pic>
      <p:sp>
        <p:nvSpPr>
          <p:cNvPr id="17" name="Text 12"/>
          <p:cNvSpPr/>
          <p:nvPr/>
        </p:nvSpPr>
        <p:spPr>
          <a:xfrm>
            <a:off x="7178040" y="4727448"/>
            <a:ext cx="4389120" cy="347472"/>
          </a:xfrm>
          <a:prstGeom prst="rect">
            <a:avLst/>
          </a:prstGeom>
          <a:noFill/>
          <a:ln/>
        </p:spPr>
        <p:txBody>
          <a:bodyPr wrap="square" lIns="0" tIns="0" rIns="0" bIns="0" rtlCol="0" anchor="ctr"/>
          <a:lstStyle/>
          <a:p>
            <a:pPr indent="0" marL="0">
              <a:buNone/>
            </a:pPr>
            <a:r>
              <a:rPr lang="en-US" sz="1450" b="1" dirty="0">
                <a:solidFill>
                  <a:srgbClr val="1C2321"/>
                </a:solidFill>
                <a:latin typeface="Calibri" pitchFamily="34" charset="0"/>
                <a:ea typeface="Calibri" pitchFamily="34" charset="-122"/>
                <a:cs typeface="Calibri" pitchFamily="34" charset="-120"/>
              </a:rPr>
              <a:t>Review is enforced</a:t>
            </a:r>
            <a:endParaRPr lang="en-US" sz="1450" dirty="0"/>
          </a:p>
        </p:txBody>
      </p:sp>
      <p:sp>
        <p:nvSpPr>
          <p:cNvPr id="18" name="Text 13"/>
          <p:cNvSpPr/>
          <p:nvPr/>
        </p:nvSpPr>
        <p:spPr>
          <a:xfrm>
            <a:off x="7178040" y="5093208"/>
            <a:ext cx="4434840" cy="1051560"/>
          </a:xfrm>
          <a:prstGeom prst="rect">
            <a:avLst/>
          </a:prstGeom>
          <a:noFill/>
          <a:ln/>
        </p:spPr>
        <p:txBody>
          <a:bodyPr wrap="square" lIns="0" tIns="0" rIns="0" bIns="0" rtlCol="0" anchor="ctr"/>
          <a:lstStyle/>
          <a:p>
            <a:pPr indent="0" marL="0">
              <a:buNone/>
            </a:pPr>
            <a:r>
              <a:rPr lang="en-US" sz="1200" dirty="0">
                <a:solidFill>
                  <a:srgbClr val="5B6663"/>
                </a:solidFill>
                <a:latin typeface="Calibri" pitchFamily="34" charset="0"/>
                <a:ea typeface="Calibri" pitchFamily="34" charset="-122"/>
                <a:cs typeface="Calibri" pitchFamily="34" charset="-120"/>
              </a:rPr>
              <a:t>Publishing without acknowledging review is refused. Students only ever see published work.</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5"/>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200" kern="0" dirty="0">
                <a:solidFill>
                  <a:srgbClr val="1F6F63"/>
                </a:solidFill>
                <a:latin typeface="Calibri" pitchFamily="34" charset="0"/>
                <a:ea typeface="Calibri" pitchFamily="34" charset="-122"/>
                <a:cs typeface="Calibri" pitchFamily="34" charset="-120"/>
              </a:rPr>
              <a:t>TEACHER · AI AGENT</a:t>
            </a:r>
            <a:endParaRPr lang="en-US" sz="1200" dirty="0"/>
          </a:p>
        </p:txBody>
      </p:sp>
      <p:sp>
        <p:nvSpPr>
          <p:cNvPr id="3" name="Text 1"/>
          <p:cNvSpPr/>
          <p:nvPr/>
        </p:nvSpPr>
        <p:spPr>
          <a:xfrm>
            <a:off x="548640" y="621792"/>
            <a:ext cx="11091672" cy="685800"/>
          </a:xfrm>
          <a:prstGeom prst="rect">
            <a:avLst/>
          </a:prstGeom>
          <a:noFill/>
          <a:ln/>
        </p:spPr>
        <p:txBody>
          <a:bodyPr wrap="square" lIns="0" tIns="0" rIns="0" bIns="0" rtlCol="0" anchor="ctr"/>
          <a:lstStyle/>
          <a:p>
            <a:pPr indent="0" marL="0">
              <a:buNone/>
            </a:pPr>
            <a:r>
              <a:rPr lang="en-US" sz="3300" b="1" dirty="0">
                <a:solidFill>
                  <a:srgbClr val="1C2321"/>
                </a:solidFill>
                <a:latin typeface="Cambria" pitchFamily="34" charset="0"/>
                <a:ea typeface="Cambria" pitchFamily="34" charset="-122"/>
                <a:cs typeface="Cambria" pitchFamily="34" charset="-120"/>
              </a:rPr>
              <a:t>Drafts a teacher would actually use</a:t>
            </a:r>
            <a:endParaRPr lang="en-US" sz="3300" dirty="0"/>
          </a:p>
        </p:txBody>
      </p:sp>
      <p:sp>
        <p:nvSpPr>
          <p:cNvPr id="4" name="Shape 2"/>
          <p:cNvSpPr/>
          <p:nvPr/>
        </p:nvSpPr>
        <p:spPr>
          <a:xfrm>
            <a:off x="548640" y="1783080"/>
            <a:ext cx="6675120" cy="4206240"/>
          </a:xfrm>
          <a:prstGeom prst="roundRect">
            <a:avLst>
              <a:gd name="adj" fmla="val 1957"/>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5" name="Text 3"/>
          <p:cNvSpPr/>
          <p:nvPr/>
        </p:nvSpPr>
        <p:spPr>
          <a:xfrm>
            <a:off x="868680" y="2011680"/>
            <a:ext cx="6035040" cy="365760"/>
          </a:xfrm>
          <a:prstGeom prst="rect">
            <a:avLst/>
          </a:prstGeom>
          <a:noFill/>
          <a:ln/>
        </p:spPr>
        <p:txBody>
          <a:bodyPr wrap="square" lIns="0" tIns="0" rIns="0" bIns="0" rtlCol="0" anchor="ctr"/>
          <a:lstStyle/>
          <a:p>
            <a:pPr indent="0" marL="0">
              <a:buNone/>
            </a:pPr>
            <a:r>
              <a:rPr lang="en-US" sz="1600" b="1" dirty="0">
                <a:solidFill>
                  <a:srgbClr val="1C2321"/>
                </a:solidFill>
                <a:latin typeface="Calibri" pitchFamily="34" charset="0"/>
                <a:ea typeface="Calibri" pitchFamily="34" charset="-122"/>
                <a:cs typeface="Calibri" pitchFamily="34" charset="-120"/>
              </a:rPr>
              <a:t>A real example from this school</a:t>
            </a:r>
            <a:endParaRPr lang="en-US" sz="1600" dirty="0"/>
          </a:p>
        </p:txBody>
      </p:sp>
      <p:sp>
        <p:nvSpPr>
          <p:cNvPr id="6" name="Shape 4"/>
          <p:cNvSpPr/>
          <p:nvPr/>
        </p:nvSpPr>
        <p:spPr>
          <a:xfrm>
            <a:off x="868680" y="2468880"/>
            <a:ext cx="6035040" cy="3200400"/>
          </a:xfrm>
          <a:prstGeom prst="roundRect">
            <a:avLst>
              <a:gd name="adj" fmla="val 2000"/>
            </a:avLst>
          </a:prstGeom>
          <a:solidFill>
            <a:srgbClr val="F6F7F5"/>
          </a:solidFill>
          <a:ln w="12700">
            <a:solidFill>
              <a:srgbClr val="E3E6E3"/>
            </a:solidFill>
            <a:prstDash val="solid"/>
          </a:ln>
        </p:spPr>
      </p:sp>
      <p:sp>
        <p:nvSpPr>
          <p:cNvPr id="7" name="Text 5"/>
          <p:cNvSpPr/>
          <p:nvPr/>
        </p:nvSpPr>
        <p:spPr>
          <a:xfrm>
            <a:off x="1143000" y="2697480"/>
            <a:ext cx="5486400" cy="2788920"/>
          </a:xfrm>
          <a:prstGeom prst="rect">
            <a:avLst/>
          </a:prstGeom>
          <a:noFill/>
          <a:ln/>
        </p:spPr>
        <p:txBody>
          <a:bodyPr wrap="square" lIns="0" tIns="0" rIns="0" bIns="0" rtlCol="0" anchor="ctr"/>
          <a:lstStyle/>
          <a:p>
            <a:pPr indent="0" marL="0">
              <a:buNone/>
            </a:pPr>
            <a:r>
              <a:rPr lang="en-US" sz="1350" b="1" dirty="0">
                <a:solidFill>
                  <a:srgbClr val="1C2321"/>
                </a:solidFill>
                <a:latin typeface="Calibri" pitchFamily="34" charset="0"/>
                <a:ea typeface="Calibri" pitchFamily="34" charset="-122"/>
                <a:cs typeface="Calibri" pitchFamily="34" charset="-120"/>
              </a:rPr>
              <a:t>Lesson Plan — Cyber Security
</a:t>
            </a:r>
            <a:pPr indent="0" marL="0">
              <a:buNone/>
            </a:pPr>
            <a:r>
              <a:rPr lang="en-US" sz="1150" dirty="0">
                <a:solidFill>
                  <a:srgbClr val="5B6663"/>
                </a:solidFill>
                <a:latin typeface="Calibri" pitchFamily="34" charset="0"/>
                <a:ea typeface="Calibri" pitchFamily="34" charset="-122"/>
                <a:cs typeface="Calibri" pitchFamily="34" charset="-120"/>
              </a:rPr>
              <a:t>Course: NESA Technology 7–8 (2023) · Stage 4 · 60 minutes
</a:t>
            </a:r>
            <a:pPr indent="0" marL="0">
              <a:buNone/>
            </a:pPr>
            <a:r>
              <a:rPr lang="en-US" sz="1200" b="1" dirty="0">
                <a:solidFill>
                  <a:srgbClr val="1C2321"/>
                </a:solidFill>
                <a:latin typeface="Calibri" pitchFamily="34" charset="0"/>
                <a:ea typeface="Calibri" pitchFamily="34" charset="-122"/>
                <a:cs typeface="Calibri" pitchFamily="34" charset="-120"/>
              </a:rPr>
              <a:t>Syllabus outcomes addressed
</a:t>
            </a:r>
            <a:pPr indent="0" marL="0">
              <a:buNone/>
            </a:pPr>
            <a:r>
              <a:rPr lang="en-US" sz="1150" dirty="0">
                <a:solidFill>
                  <a:srgbClr val="5B6663"/>
                </a:solidFill>
                <a:latin typeface="Calibri" pitchFamily="34" charset="0"/>
                <a:ea typeface="Calibri" pitchFamily="34" charset="-122"/>
                <a:cs typeface="Calibri" pitchFamily="34" charset="-120"/>
              </a:rPr>
              <a:t>TE4-DIG-01 — demonstrates technological literacy to safely interact in digital environments
</a:t>
            </a:r>
            <a:pPr indent="0" marL="0">
              <a:buNone/>
            </a:pPr>
            <a:r>
              <a:rPr lang="en-US" sz="1150" dirty="0">
                <a:solidFill>
                  <a:srgbClr val="5B6663"/>
                </a:solidFill>
                <a:latin typeface="Calibri" pitchFamily="34" charset="0"/>
                <a:ea typeface="Calibri" pitchFamily="34" charset="-122"/>
                <a:cs typeface="Calibri" pitchFamily="34" charset="-120"/>
              </a:rPr>
              <a:t>TE4-SAF-01 — selects and safely uses tools, materials, technologies and processes
</a:t>
            </a:r>
            <a:pPr indent="0" marL="0">
              <a:buNone/>
            </a:pPr>
            <a:r>
              <a:rPr lang="en-US" sz="1150" i="1" dirty="0">
                <a:solidFill>
                  <a:srgbClr val="1F6F63"/>
                </a:solidFill>
                <a:latin typeface="Calibri" pitchFamily="34" charset="0"/>
                <a:ea typeface="Calibri" pitchFamily="34" charset="-122"/>
                <a:cs typeface="Calibri" pitchFamily="34" charset="-120"/>
              </a:rPr>
              <a:t>Drawn from the school's own approved syllabus — outcome codes quoted, not invented.</a:t>
            </a:r>
            <a:endParaRPr lang="en-US" sz="1350" dirty="0"/>
          </a:p>
        </p:txBody>
      </p:sp>
      <p:sp>
        <p:nvSpPr>
          <p:cNvPr id="8" name="Text 6"/>
          <p:cNvSpPr/>
          <p:nvPr/>
        </p:nvSpPr>
        <p:spPr>
          <a:xfrm>
            <a:off x="7635240" y="1920240"/>
            <a:ext cx="3931920" cy="347472"/>
          </a:xfrm>
          <a:prstGeom prst="rect">
            <a:avLst/>
          </a:prstGeom>
          <a:noFill/>
          <a:ln/>
        </p:spPr>
        <p:txBody>
          <a:bodyPr wrap="square" lIns="0" tIns="0" rIns="0" bIns="0" rtlCol="0" anchor="ctr"/>
          <a:lstStyle/>
          <a:p>
            <a:pPr indent="0" marL="0">
              <a:buNone/>
            </a:pPr>
            <a:r>
              <a:rPr lang="en-US" sz="1450" b="1" dirty="0">
                <a:solidFill>
                  <a:srgbClr val="1C2321"/>
                </a:solidFill>
                <a:latin typeface="Calibri" pitchFamily="34" charset="0"/>
                <a:ea typeface="Calibri" pitchFamily="34" charset="-122"/>
                <a:cs typeface="Calibri" pitchFamily="34" charset="-120"/>
              </a:rPr>
              <a:t>Five draft kinds</a:t>
            </a:r>
            <a:endParaRPr lang="en-US" sz="1450" dirty="0"/>
          </a:p>
        </p:txBody>
      </p:sp>
      <p:sp>
        <p:nvSpPr>
          <p:cNvPr id="9" name="Text 7"/>
          <p:cNvSpPr/>
          <p:nvPr/>
        </p:nvSpPr>
        <p:spPr>
          <a:xfrm>
            <a:off x="7635240" y="2286000"/>
            <a:ext cx="3977640" cy="914400"/>
          </a:xfrm>
          <a:prstGeom prst="rect">
            <a:avLst/>
          </a:prstGeom>
          <a:noFill/>
          <a:ln/>
        </p:spPr>
        <p:txBody>
          <a:bodyPr wrap="square" lIns="0" tIns="0" rIns="0" bIns="0" rtlCol="0" anchor="ctr"/>
          <a:lstStyle/>
          <a:p>
            <a:pPr indent="0" marL="0">
              <a:buNone/>
            </a:pPr>
            <a:r>
              <a:rPr lang="en-US" sz="1200" dirty="0">
                <a:solidFill>
                  <a:srgbClr val="5B6663"/>
                </a:solidFill>
                <a:latin typeface="Calibri" pitchFamily="34" charset="0"/>
                <a:ea typeface="Calibri" pitchFamily="34" charset="-122"/>
                <a:cs typeface="Calibri" pitchFamily="34" charset="-120"/>
              </a:rPr>
              <a:t>Unit sequences, lesson plans, differentiated activities, parent summaries, student feedback.</a:t>
            </a:r>
            <a:endParaRPr lang="en-US" sz="1200" dirty="0"/>
          </a:p>
        </p:txBody>
      </p:sp>
      <p:sp>
        <p:nvSpPr>
          <p:cNvPr id="10" name="Text 8"/>
          <p:cNvSpPr/>
          <p:nvPr/>
        </p:nvSpPr>
        <p:spPr>
          <a:xfrm>
            <a:off x="7635240" y="3291840"/>
            <a:ext cx="3931920" cy="347472"/>
          </a:xfrm>
          <a:prstGeom prst="rect">
            <a:avLst/>
          </a:prstGeom>
          <a:noFill/>
          <a:ln/>
        </p:spPr>
        <p:txBody>
          <a:bodyPr wrap="square" lIns="0" tIns="0" rIns="0" bIns="0" rtlCol="0" anchor="ctr"/>
          <a:lstStyle/>
          <a:p>
            <a:pPr indent="0" marL="0">
              <a:buNone/>
            </a:pPr>
            <a:r>
              <a:rPr lang="en-US" sz="1450" b="1" dirty="0">
                <a:solidFill>
                  <a:srgbClr val="1C2321"/>
                </a:solidFill>
                <a:latin typeface="Calibri" pitchFamily="34" charset="0"/>
                <a:ea typeface="Calibri" pitchFamily="34" charset="-122"/>
                <a:cs typeface="Calibri" pitchFamily="34" charset="-120"/>
              </a:rPr>
              <a:t>Declines honestly</a:t>
            </a:r>
            <a:endParaRPr lang="en-US" sz="1450" dirty="0"/>
          </a:p>
        </p:txBody>
      </p:sp>
      <p:sp>
        <p:nvSpPr>
          <p:cNvPr id="11" name="Text 9"/>
          <p:cNvSpPr/>
          <p:nvPr/>
        </p:nvSpPr>
        <p:spPr>
          <a:xfrm>
            <a:off x="7635240" y="3657600"/>
            <a:ext cx="3977640" cy="914400"/>
          </a:xfrm>
          <a:prstGeom prst="rect">
            <a:avLst/>
          </a:prstGeom>
          <a:noFill/>
          <a:ln/>
        </p:spPr>
        <p:txBody>
          <a:bodyPr wrap="square" lIns="0" tIns="0" rIns="0" bIns="0" rtlCol="0" anchor="ctr"/>
          <a:lstStyle/>
          <a:p>
            <a:pPr indent="0" marL="0">
              <a:buNone/>
            </a:pPr>
            <a:r>
              <a:rPr lang="en-US" sz="1200" dirty="0">
                <a:solidFill>
                  <a:srgbClr val="5B6663"/>
                </a:solidFill>
                <a:latin typeface="Calibri" pitchFamily="34" charset="0"/>
                <a:ea typeface="Calibri" pitchFamily="34" charset="-122"/>
                <a:cs typeface="Calibri" pitchFamily="34" charset="-120"/>
              </a:rPr>
              <a:t>No approved material behind the chosen concepts? It refuses and names the fix — it won't invent a plan.</a:t>
            </a:r>
            <a:endParaRPr lang="en-US" sz="1200" dirty="0"/>
          </a:p>
        </p:txBody>
      </p:sp>
      <p:sp>
        <p:nvSpPr>
          <p:cNvPr id="12" name="Text 10"/>
          <p:cNvSpPr/>
          <p:nvPr/>
        </p:nvSpPr>
        <p:spPr>
          <a:xfrm>
            <a:off x="7635240" y="4663440"/>
            <a:ext cx="3931920" cy="347472"/>
          </a:xfrm>
          <a:prstGeom prst="rect">
            <a:avLst/>
          </a:prstGeom>
          <a:noFill/>
          <a:ln/>
        </p:spPr>
        <p:txBody>
          <a:bodyPr wrap="square" lIns="0" tIns="0" rIns="0" bIns="0" rtlCol="0" anchor="ctr"/>
          <a:lstStyle/>
          <a:p>
            <a:pPr indent="0" marL="0">
              <a:buNone/>
            </a:pPr>
            <a:r>
              <a:rPr lang="en-US" sz="1450" b="1" dirty="0">
                <a:solidFill>
                  <a:srgbClr val="1C2321"/>
                </a:solidFill>
                <a:latin typeface="Calibri" pitchFamily="34" charset="0"/>
                <a:ea typeface="Calibri" pitchFamily="34" charset="-122"/>
                <a:cs typeface="Calibri" pitchFamily="34" charset="-120"/>
              </a:rPr>
              <a:t>Nothing auto-sends</a:t>
            </a:r>
            <a:endParaRPr lang="en-US" sz="1450" dirty="0"/>
          </a:p>
        </p:txBody>
      </p:sp>
      <p:sp>
        <p:nvSpPr>
          <p:cNvPr id="13" name="Text 11"/>
          <p:cNvSpPr/>
          <p:nvPr/>
        </p:nvSpPr>
        <p:spPr>
          <a:xfrm>
            <a:off x="7635240" y="5029200"/>
            <a:ext cx="3977640" cy="914400"/>
          </a:xfrm>
          <a:prstGeom prst="rect">
            <a:avLst/>
          </a:prstGeom>
          <a:noFill/>
          <a:ln/>
        </p:spPr>
        <p:txBody>
          <a:bodyPr wrap="square" lIns="0" tIns="0" rIns="0" bIns="0" rtlCol="0" anchor="ctr"/>
          <a:lstStyle/>
          <a:p>
            <a:pPr indent="0" marL="0">
              <a:buNone/>
            </a:pPr>
            <a:r>
              <a:rPr lang="en-US" sz="1200" dirty="0">
                <a:solidFill>
                  <a:srgbClr val="5B6663"/>
                </a:solidFill>
                <a:latin typeface="Calibri" pitchFamily="34" charset="0"/>
                <a:ea typeface="Calibri" pitchFamily="34" charset="-122"/>
                <a:cs typeface="Calibri" pitchFamily="34" charset="-120"/>
              </a:rPr>
              <a:t>Drafts persist unsent with their grounding sources listed; the teacher edits and sends.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5"/>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200" kern="0" dirty="0">
                <a:solidFill>
                  <a:srgbClr val="1F6F63"/>
                </a:solidFill>
                <a:latin typeface="Calibri" pitchFamily="34" charset="0"/>
                <a:ea typeface="Calibri" pitchFamily="34" charset="-122"/>
                <a:cs typeface="Calibri" pitchFamily="34" charset="-120"/>
              </a:rPr>
              <a:t>TEACHER · CLASS INSIGHTS</a:t>
            </a:r>
            <a:endParaRPr lang="en-US" sz="1200" dirty="0"/>
          </a:p>
        </p:txBody>
      </p:sp>
      <p:sp>
        <p:nvSpPr>
          <p:cNvPr id="3" name="Text 1"/>
          <p:cNvSpPr/>
          <p:nvPr/>
        </p:nvSpPr>
        <p:spPr>
          <a:xfrm>
            <a:off x="548640" y="621792"/>
            <a:ext cx="11091672" cy="685800"/>
          </a:xfrm>
          <a:prstGeom prst="rect">
            <a:avLst/>
          </a:prstGeom>
          <a:noFill/>
          <a:ln/>
        </p:spPr>
        <p:txBody>
          <a:bodyPr wrap="square" lIns="0" tIns="0" rIns="0" bIns="0" rtlCol="0" anchor="ctr"/>
          <a:lstStyle/>
          <a:p>
            <a:pPr indent="0" marL="0">
              <a:buNone/>
            </a:pPr>
            <a:r>
              <a:rPr lang="en-US" sz="3300" b="1" dirty="0">
                <a:solidFill>
                  <a:srgbClr val="1C2321"/>
                </a:solidFill>
                <a:latin typeface="Cambria" pitchFamily="34" charset="0"/>
                <a:ea typeface="Cambria" pitchFamily="34" charset="-122"/>
                <a:cs typeface="Cambria" pitchFamily="34" charset="-120"/>
              </a:rPr>
              <a:t>From graded work to next teaching moves</a:t>
            </a:r>
            <a:endParaRPr lang="en-US" sz="3300" dirty="0"/>
          </a:p>
        </p:txBody>
      </p:sp>
      <p:sp>
        <p:nvSpPr>
          <p:cNvPr id="4" name="Shape 2"/>
          <p:cNvSpPr/>
          <p:nvPr/>
        </p:nvSpPr>
        <p:spPr>
          <a:xfrm>
            <a:off x="548640" y="1783080"/>
            <a:ext cx="3453384" cy="3931920"/>
          </a:xfrm>
          <a:prstGeom prst="roundRect">
            <a:avLst>
              <a:gd name="adj" fmla="val 2383"/>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5" name="Shape 3"/>
          <p:cNvSpPr/>
          <p:nvPr/>
        </p:nvSpPr>
        <p:spPr>
          <a:xfrm>
            <a:off x="868680" y="2103120"/>
            <a:ext cx="640080" cy="640080"/>
          </a:xfrm>
          <a:prstGeom prst="ellipse">
            <a:avLst/>
          </a:prstGeom>
          <a:solidFill>
            <a:srgbClr val="DCEEEA"/>
          </a:solidFill>
          <a:ln/>
        </p:spPr>
      </p:sp>
      <p:pic>
        <p:nvPicPr>
          <p:cNvPr id="6" name="Image 0" descr="preencoded.png">    </p:cNvPr>
          <p:cNvPicPr>
            <a:picLocks noChangeAspect="1"/>
          </p:cNvPicPr>
          <p:nvPr/>
        </p:nvPicPr>
        <p:blipFill>
          <a:blip r:embed="rId1"/>
          <a:stretch>
            <a:fillRect/>
          </a:stretch>
        </p:blipFill>
        <p:spPr>
          <a:xfrm>
            <a:off x="1035101" y="2269541"/>
            <a:ext cx="307238" cy="307238"/>
          </a:xfrm>
          <a:prstGeom prst="rect">
            <a:avLst/>
          </a:prstGeom>
        </p:spPr>
      </p:pic>
      <p:sp>
        <p:nvSpPr>
          <p:cNvPr id="7" name="Text 4"/>
          <p:cNvSpPr/>
          <p:nvPr/>
        </p:nvSpPr>
        <p:spPr>
          <a:xfrm>
            <a:off x="868680" y="2971800"/>
            <a:ext cx="2813304" cy="411480"/>
          </a:xfrm>
          <a:prstGeom prst="rect">
            <a:avLst/>
          </a:prstGeom>
          <a:noFill/>
          <a:ln/>
        </p:spPr>
        <p:txBody>
          <a:bodyPr wrap="square" lIns="0" tIns="0" rIns="0" bIns="0" rtlCol="0" anchor="ctr"/>
          <a:lstStyle/>
          <a:p>
            <a:pPr indent="0" marL="0">
              <a:buNone/>
            </a:pPr>
            <a:r>
              <a:rPr lang="en-US" sz="1550" b="1" dirty="0">
                <a:solidFill>
                  <a:srgbClr val="1C2321"/>
                </a:solidFill>
                <a:latin typeface="Calibri" pitchFamily="34" charset="0"/>
                <a:ea typeface="Calibri" pitchFamily="34" charset="-122"/>
                <a:cs typeface="Calibri" pitchFamily="34" charset="-120"/>
              </a:rPr>
              <a:t>Mastery heatmap</a:t>
            </a:r>
            <a:endParaRPr lang="en-US" sz="1550" dirty="0"/>
          </a:p>
        </p:txBody>
      </p:sp>
      <p:sp>
        <p:nvSpPr>
          <p:cNvPr id="8" name="Text 5"/>
          <p:cNvSpPr/>
          <p:nvPr/>
        </p:nvSpPr>
        <p:spPr>
          <a:xfrm>
            <a:off x="868680" y="3429000"/>
            <a:ext cx="2813304" cy="2103120"/>
          </a:xfrm>
          <a:prstGeom prst="rect">
            <a:avLst/>
          </a:prstGeom>
          <a:noFill/>
          <a:ln/>
        </p:spPr>
        <p:txBody>
          <a:bodyPr wrap="square" lIns="0" tIns="0" rIns="0" bIns="0" rtlCol="0" anchor="ctr"/>
          <a:lstStyle/>
          <a:p>
            <a:pPr indent="0" marL="0">
              <a:buNone/>
            </a:pPr>
            <a:r>
              <a:rPr lang="en-US" sz="1200" dirty="0">
                <a:solidFill>
                  <a:srgbClr val="5B6663"/>
                </a:solidFill>
                <a:latin typeface="Calibri" pitchFamily="34" charset="0"/>
                <a:ea typeface="Calibri" pitchFamily="34" charset="-122"/>
                <a:cs typeface="Calibri" pitchFamily="34" charset="-120"/>
              </a:rPr>
              <a:t>Every student × every concept, on real graded attempts. Thin data is labelled, never dressed up — a colour-blind-safe ramp, and “no data” stays grey.</a:t>
            </a:r>
            <a:endParaRPr lang="en-US" sz="1200" dirty="0"/>
          </a:p>
        </p:txBody>
      </p:sp>
      <p:sp>
        <p:nvSpPr>
          <p:cNvPr id="9" name="Shape 6"/>
          <p:cNvSpPr/>
          <p:nvPr/>
        </p:nvSpPr>
        <p:spPr>
          <a:xfrm>
            <a:off x="4367784" y="1783080"/>
            <a:ext cx="3453384" cy="3931920"/>
          </a:xfrm>
          <a:prstGeom prst="roundRect">
            <a:avLst>
              <a:gd name="adj" fmla="val 2383"/>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10" name="Shape 7"/>
          <p:cNvSpPr/>
          <p:nvPr/>
        </p:nvSpPr>
        <p:spPr>
          <a:xfrm>
            <a:off x="4687824" y="2103120"/>
            <a:ext cx="640080" cy="640080"/>
          </a:xfrm>
          <a:prstGeom prst="ellipse">
            <a:avLst/>
          </a:prstGeom>
          <a:solidFill>
            <a:srgbClr val="1F6F63"/>
          </a:solidFill>
          <a:ln/>
        </p:spPr>
      </p:sp>
      <p:pic>
        <p:nvPicPr>
          <p:cNvPr id="11" name="Image 1" descr="preencoded.png">    </p:cNvPr>
          <p:cNvPicPr>
            <a:picLocks noChangeAspect="1"/>
          </p:cNvPicPr>
          <p:nvPr/>
        </p:nvPicPr>
        <p:blipFill>
          <a:blip r:embed="rId2"/>
          <a:stretch>
            <a:fillRect/>
          </a:stretch>
        </p:blipFill>
        <p:spPr>
          <a:xfrm>
            <a:off x="4854245" y="2269541"/>
            <a:ext cx="307238" cy="307238"/>
          </a:xfrm>
          <a:prstGeom prst="rect">
            <a:avLst/>
          </a:prstGeom>
        </p:spPr>
      </p:pic>
      <p:sp>
        <p:nvSpPr>
          <p:cNvPr id="12" name="Text 8"/>
          <p:cNvSpPr/>
          <p:nvPr/>
        </p:nvSpPr>
        <p:spPr>
          <a:xfrm>
            <a:off x="4687824" y="2971800"/>
            <a:ext cx="2813304" cy="411480"/>
          </a:xfrm>
          <a:prstGeom prst="rect">
            <a:avLst/>
          </a:prstGeom>
          <a:noFill/>
          <a:ln/>
        </p:spPr>
        <p:txBody>
          <a:bodyPr wrap="square" lIns="0" tIns="0" rIns="0" bIns="0" rtlCol="0" anchor="ctr"/>
          <a:lstStyle/>
          <a:p>
            <a:pPr indent="0" marL="0">
              <a:buNone/>
            </a:pPr>
            <a:r>
              <a:rPr lang="en-US" sz="1550" b="1" dirty="0">
                <a:solidFill>
                  <a:srgbClr val="1C2321"/>
                </a:solidFill>
                <a:latin typeface="Calibri" pitchFamily="34" charset="0"/>
                <a:ea typeface="Calibri" pitchFamily="34" charset="-122"/>
                <a:cs typeface="Calibri" pitchFamily="34" charset="-120"/>
              </a:rPr>
              <a:t>Focus areas &amp; groups</a:t>
            </a:r>
            <a:endParaRPr lang="en-US" sz="1550" dirty="0"/>
          </a:p>
        </p:txBody>
      </p:sp>
      <p:sp>
        <p:nvSpPr>
          <p:cNvPr id="13" name="Text 9"/>
          <p:cNvSpPr/>
          <p:nvPr/>
        </p:nvSpPr>
        <p:spPr>
          <a:xfrm>
            <a:off x="4687824" y="3429000"/>
            <a:ext cx="2813304" cy="2103120"/>
          </a:xfrm>
          <a:prstGeom prst="rect">
            <a:avLst/>
          </a:prstGeom>
          <a:noFill/>
          <a:ln/>
        </p:spPr>
        <p:txBody>
          <a:bodyPr wrap="square" lIns="0" tIns="0" rIns="0" bIns="0" rtlCol="0" anchor="ctr"/>
          <a:lstStyle/>
          <a:p>
            <a:pPr indent="0" marL="0">
              <a:buNone/>
            </a:pPr>
            <a:r>
              <a:rPr lang="en-US" sz="1200" dirty="0">
                <a:solidFill>
                  <a:srgbClr val="5B6663"/>
                </a:solidFill>
                <a:latin typeface="Calibri" pitchFamily="34" charset="0"/>
                <a:ea typeface="Calibri" pitchFamily="34" charset="-122"/>
                <a:cs typeface="Calibri" pitchFamily="34" charset="-120"/>
              </a:rPr>
              <a:t>“8 of 12 below mastery on Add and subtract fractions” — with suggested reteach material and editable cohort groups. Suggest-then-confirm: the teacher's tick is final.</a:t>
            </a:r>
            <a:endParaRPr lang="en-US" sz="1200" dirty="0"/>
          </a:p>
        </p:txBody>
      </p:sp>
      <p:sp>
        <p:nvSpPr>
          <p:cNvPr id="14" name="Shape 10"/>
          <p:cNvSpPr/>
          <p:nvPr/>
        </p:nvSpPr>
        <p:spPr>
          <a:xfrm>
            <a:off x="8186928" y="1783080"/>
            <a:ext cx="3453384" cy="3931920"/>
          </a:xfrm>
          <a:prstGeom prst="roundRect">
            <a:avLst>
              <a:gd name="adj" fmla="val 2383"/>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15" name="Shape 11"/>
          <p:cNvSpPr/>
          <p:nvPr/>
        </p:nvSpPr>
        <p:spPr>
          <a:xfrm>
            <a:off x="8506968" y="2103120"/>
            <a:ext cx="640080" cy="640080"/>
          </a:xfrm>
          <a:prstGeom prst="ellipse">
            <a:avLst/>
          </a:prstGeom>
          <a:solidFill>
            <a:srgbClr val="DCEEEA"/>
          </a:solidFill>
          <a:ln/>
        </p:spPr>
      </p:sp>
      <p:pic>
        <p:nvPicPr>
          <p:cNvPr id="16" name="Image 2" descr="preencoded.png">    </p:cNvPr>
          <p:cNvPicPr>
            <a:picLocks noChangeAspect="1"/>
          </p:cNvPicPr>
          <p:nvPr/>
        </p:nvPicPr>
        <p:blipFill>
          <a:blip r:embed="rId3"/>
          <a:stretch>
            <a:fillRect/>
          </a:stretch>
        </p:blipFill>
        <p:spPr>
          <a:xfrm>
            <a:off x="8673389" y="2269541"/>
            <a:ext cx="307238" cy="307238"/>
          </a:xfrm>
          <a:prstGeom prst="rect">
            <a:avLst/>
          </a:prstGeom>
        </p:spPr>
      </p:pic>
      <p:sp>
        <p:nvSpPr>
          <p:cNvPr id="17" name="Text 12"/>
          <p:cNvSpPr/>
          <p:nvPr/>
        </p:nvSpPr>
        <p:spPr>
          <a:xfrm>
            <a:off x="8506968" y="2971800"/>
            <a:ext cx="2813304" cy="411480"/>
          </a:xfrm>
          <a:prstGeom prst="rect">
            <a:avLst/>
          </a:prstGeom>
          <a:noFill/>
          <a:ln/>
        </p:spPr>
        <p:txBody>
          <a:bodyPr wrap="square" lIns="0" tIns="0" rIns="0" bIns="0" rtlCol="0" anchor="ctr"/>
          <a:lstStyle/>
          <a:p>
            <a:pPr indent="0" marL="0">
              <a:buNone/>
            </a:pPr>
            <a:r>
              <a:rPr lang="en-US" sz="1550" b="1" dirty="0">
                <a:solidFill>
                  <a:srgbClr val="1C2321"/>
                </a:solidFill>
                <a:latin typeface="Calibri" pitchFamily="34" charset="0"/>
                <a:ea typeface="Calibri" pitchFamily="34" charset="-122"/>
                <a:cs typeface="Calibri" pitchFamily="34" charset="-120"/>
              </a:rPr>
              <a:t>Adaptive next actions</a:t>
            </a:r>
            <a:endParaRPr lang="en-US" sz="1550" dirty="0"/>
          </a:p>
        </p:txBody>
      </p:sp>
      <p:sp>
        <p:nvSpPr>
          <p:cNvPr id="18" name="Text 13"/>
          <p:cNvSpPr/>
          <p:nvPr/>
        </p:nvSpPr>
        <p:spPr>
          <a:xfrm>
            <a:off x="8506968" y="3429000"/>
            <a:ext cx="2813304" cy="2103120"/>
          </a:xfrm>
          <a:prstGeom prst="rect">
            <a:avLst/>
          </a:prstGeom>
          <a:noFill/>
          <a:ln/>
        </p:spPr>
        <p:txBody>
          <a:bodyPr wrap="square" lIns="0" tIns="0" rIns="0" bIns="0" rtlCol="0" anchor="ctr"/>
          <a:lstStyle/>
          <a:p>
            <a:pPr indent="0" marL="0">
              <a:buNone/>
            </a:pPr>
            <a:r>
              <a:rPr lang="en-US" sz="1200" dirty="0">
                <a:solidFill>
                  <a:srgbClr val="5B6663"/>
                </a:solidFill>
                <a:latin typeface="Calibri" pitchFamily="34" charset="0"/>
                <a:ea typeface="Calibri" pitchFamily="34" charset="-122"/>
                <a:cs typeface="Calibri" pitchFamily="34" charset="-120"/>
              </a:rPr>
              <a:t>Per student: remediate, reinforce, progress or escalate — each with its reason, and one click from a tailored assessment draft.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5"/>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200" kern="0" dirty="0">
                <a:solidFill>
                  <a:srgbClr val="1F6F63"/>
                </a:solidFill>
                <a:latin typeface="Calibri" pitchFamily="34" charset="0"/>
                <a:ea typeface="Calibri" pitchFamily="34" charset="-122"/>
                <a:cs typeface="Calibri" pitchFamily="34" charset="-120"/>
              </a:rPr>
              <a:t>STUDENT &amp; PARENT</a:t>
            </a:r>
            <a:endParaRPr lang="en-US" sz="1200" dirty="0"/>
          </a:p>
        </p:txBody>
      </p:sp>
      <p:sp>
        <p:nvSpPr>
          <p:cNvPr id="3" name="Text 1"/>
          <p:cNvSpPr/>
          <p:nvPr/>
        </p:nvSpPr>
        <p:spPr>
          <a:xfrm>
            <a:off x="548640" y="621792"/>
            <a:ext cx="11091672" cy="685800"/>
          </a:xfrm>
          <a:prstGeom prst="rect">
            <a:avLst/>
          </a:prstGeom>
          <a:noFill/>
          <a:ln/>
        </p:spPr>
        <p:txBody>
          <a:bodyPr wrap="square" lIns="0" tIns="0" rIns="0" bIns="0" rtlCol="0" anchor="ctr"/>
          <a:lstStyle/>
          <a:p>
            <a:pPr indent="0" marL="0">
              <a:buNone/>
            </a:pPr>
            <a:r>
              <a:rPr lang="en-US" sz="3300" b="1" dirty="0">
                <a:solidFill>
                  <a:srgbClr val="1C2321"/>
                </a:solidFill>
                <a:latin typeface="Cambria" pitchFamily="34" charset="0"/>
                <a:ea typeface="Cambria" pitchFamily="34" charset="-122"/>
                <a:cs typeface="Cambria" pitchFamily="34" charset="-120"/>
              </a:rPr>
              <a:t>Safeguarded on both sides of the desk</a:t>
            </a:r>
            <a:endParaRPr lang="en-US" sz="3300" dirty="0"/>
          </a:p>
        </p:txBody>
      </p:sp>
      <p:sp>
        <p:nvSpPr>
          <p:cNvPr id="4" name="Shape 2"/>
          <p:cNvSpPr/>
          <p:nvPr/>
        </p:nvSpPr>
        <p:spPr>
          <a:xfrm>
            <a:off x="548640" y="1783080"/>
            <a:ext cx="5394960" cy="4206240"/>
          </a:xfrm>
          <a:prstGeom prst="roundRect">
            <a:avLst>
              <a:gd name="adj" fmla="val 1957"/>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5" name="Shape 3"/>
          <p:cNvSpPr/>
          <p:nvPr/>
        </p:nvSpPr>
        <p:spPr>
          <a:xfrm>
            <a:off x="868680" y="2103120"/>
            <a:ext cx="640080" cy="640080"/>
          </a:xfrm>
          <a:prstGeom prst="ellipse">
            <a:avLst/>
          </a:prstGeom>
          <a:solidFill>
            <a:srgbClr val="1F6F63"/>
          </a:solidFill>
          <a:ln/>
        </p:spPr>
      </p:sp>
      <p:pic>
        <p:nvPicPr>
          <p:cNvPr id="6" name="Image 0" descr="preencoded.png">    </p:cNvPr>
          <p:cNvPicPr>
            <a:picLocks noChangeAspect="1"/>
          </p:cNvPicPr>
          <p:nvPr/>
        </p:nvPicPr>
        <p:blipFill>
          <a:blip r:embed="rId1"/>
          <a:stretch>
            <a:fillRect/>
          </a:stretch>
        </p:blipFill>
        <p:spPr>
          <a:xfrm>
            <a:off x="1035101" y="2269541"/>
            <a:ext cx="307238" cy="307238"/>
          </a:xfrm>
          <a:prstGeom prst="rect">
            <a:avLst/>
          </a:prstGeom>
        </p:spPr>
      </p:pic>
      <p:sp>
        <p:nvSpPr>
          <p:cNvPr id="7" name="Text 4"/>
          <p:cNvSpPr/>
          <p:nvPr/>
        </p:nvSpPr>
        <p:spPr>
          <a:xfrm>
            <a:off x="1691640" y="2194560"/>
            <a:ext cx="3931920" cy="411480"/>
          </a:xfrm>
          <a:prstGeom prst="rect">
            <a:avLst/>
          </a:prstGeom>
          <a:noFill/>
          <a:ln/>
        </p:spPr>
        <p:txBody>
          <a:bodyPr wrap="square" lIns="0" tIns="0" rIns="0" bIns="0" rtlCol="0" anchor="ctr"/>
          <a:lstStyle/>
          <a:p>
            <a:pPr indent="0" marL="0">
              <a:buNone/>
            </a:pPr>
            <a:r>
              <a:rPr lang="en-US" sz="1700" b="1" dirty="0">
                <a:solidFill>
                  <a:srgbClr val="1C2321"/>
                </a:solidFill>
                <a:latin typeface="Calibri" pitchFamily="34" charset="0"/>
                <a:ea typeface="Calibri" pitchFamily="34" charset="-122"/>
                <a:cs typeface="Calibri" pitchFamily="34" charset="-120"/>
              </a:rPr>
              <a:t>Student workspace</a:t>
            </a:r>
            <a:endParaRPr lang="en-US" sz="1700" dirty="0"/>
          </a:p>
        </p:txBody>
      </p:sp>
      <p:sp>
        <p:nvSpPr>
          <p:cNvPr id="8" name="Text 5"/>
          <p:cNvSpPr/>
          <p:nvPr/>
        </p:nvSpPr>
        <p:spPr>
          <a:xfrm>
            <a:off x="868680" y="3063240"/>
            <a:ext cx="4754880" cy="265176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5B6663"/>
                </a:solidFill>
                <a:latin typeface="Calibri" pitchFamily="34" charset="0"/>
                <a:ea typeface="Calibri" pitchFamily="34" charset="-122"/>
                <a:cs typeface="Calibri" pitchFamily="34" charset="-120"/>
              </a:rPr>
              <a:t>Tasks and assessments with due dates, in one place</a:t>
            </a:r>
            <a:endParaRPr lang="en-US" sz="1300" dirty="0"/>
          </a:p>
          <a:p>
            <a:pPr marL="342900" indent="-342900">
              <a:spcAft>
                <a:spcPts val="800"/>
              </a:spcAft>
              <a:buSzPct val="100000"/>
              <a:buChar char="•"/>
            </a:pPr>
            <a:r>
              <a:rPr lang="en-US" sz="1300" dirty="0">
                <a:solidFill>
                  <a:srgbClr val="5B6663"/>
                </a:solidFill>
                <a:latin typeface="Calibri" pitchFamily="34" charset="0"/>
                <a:ea typeface="Calibri" pitchFamily="34" charset="-122"/>
                <a:cs typeface="Calibri" pitchFamily="34" charset="-120"/>
              </a:rPr>
              <a:t>Attempts save as they go — an outage never loses work</a:t>
            </a:r>
            <a:endParaRPr lang="en-US" sz="1300" dirty="0"/>
          </a:p>
          <a:p>
            <a:pPr marL="342900" indent="-342900">
              <a:spcAft>
                <a:spcPts val="800"/>
              </a:spcAft>
              <a:buSzPct val="100000"/>
              <a:buChar char="•"/>
            </a:pPr>
            <a:r>
              <a:rPr lang="en-US" sz="1300" dirty="0">
                <a:solidFill>
                  <a:srgbClr val="5B6663"/>
                </a:solidFill>
                <a:latin typeface="Calibri" pitchFamily="34" charset="0"/>
                <a:ea typeface="Calibri" pitchFamily="34" charset="-122"/>
                <a:cs typeface="Calibri" pitchFamily="34" charset="-120"/>
              </a:rPr>
              <a:t>Ask-for-Help gives hints grounded in approved material, never answers</a:t>
            </a:r>
            <a:endParaRPr lang="en-US" sz="1300" dirty="0"/>
          </a:p>
          <a:p>
            <a:pPr marL="342900" indent="-342900">
              <a:spcAft>
                <a:spcPts val="800"/>
              </a:spcAft>
              <a:buSzPct val="100000"/>
              <a:buChar char="•"/>
            </a:pPr>
            <a:r>
              <a:rPr lang="en-US" sz="1300" dirty="0">
                <a:solidFill>
                  <a:srgbClr val="5B6663"/>
                </a:solidFill>
                <a:latin typeface="Calibri" pitchFamily="34" charset="0"/>
                <a:ea typeface="Calibri" pitchFamily="34" charset="-122"/>
                <a:cs typeface="Calibri" pitchFamily="34" charset="-120"/>
              </a:rPr>
              <a:t>Help transcripts are visible ONLY to the assigning teacher</a:t>
            </a:r>
            <a:endParaRPr lang="en-US" sz="1300" dirty="0"/>
          </a:p>
        </p:txBody>
      </p:sp>
      <p:sp>
        <p:nvSpPr>
          <p:cNvPr id="9" name="Shape 6"/>
          <p:cNvSpPr/>
          <p:nvPr/>
        </p:nvSpPr>
        <p:spPr>
          <a:xfrm>
            <a:off x="6355080" y="1783080"/>
            <a:ext cx="5257800" cy="4206240"/>
          </a:xfrm>
          <a:prstGeom prst="roundRect">
            <a:avLst>
              <a:gd name="adj" fmla="val 1957"/>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10" name="Shape 7"/>
          <p:cNvSpPr/>
          <p:nvPr/>
        </p:nvSpPr>
        <p:spPr>
          <a:xfrm>
            <a:off x="6675120" y="2103120"/>
            <a:ext cx="640080" cy="640080"/>
          </a:xfrm>
          <a:prstGeom prst="ellipse">
            <a:avLst/>
          </a:prstGeom>
          <a:solidFill>
            <a:srgbClr val="1F6F63"/>
          </a:solidFill>
          <a:ln/>
        </p:spPr>
      </p:sp>
      <p:pic>
        <p:nvPicPr>
          <p:cNvPr id="11" name="Image 1" descr="preencoded.png">    </p:cNvPr>
          <p:cNvPicPr>
            <a:picLocks noChangeAspect="1"/>
          </p:cNvPicPr>
          <p:nvPr/>
        </p:nvPicPr>
        <p:blipFill>
          <a:blip r:embed="rId2"/>
          <a:stretch>
            <a:fillRect/>
          </a:stretch>
        </p:blipFill>
        <p:spPr>
          <a:xfrm>
            <a:off x="6841541" y="2269541"/>
            <a:ext cx="307238" cy="307238"/>
          </a:xfrm>
          <a:prstGeom prst="rect">
            <a:avLst/>
          </a:prstGeom>
        </p:spPr>
      </p:pic>
      <p:sp>
        <p:nvSpPr>
          <p:cNvPr id="12" name="Text 8"/>
          <p:cNvSpPr/>
          <p:nvPr/>
        </p:nvSpPr>
        <p:spPr>
          <a:xfrm>
            <a:off x="7498080" y="2194560"/>
            <a:ext cx="3840480" cy="411480"/>
          </a:xfrm>
          <a:prstGeom prst="rect">
            <a:avLst/>
          </a:prstGeom>
          <a:noFill/>
          <a:ln/>
        </p:spPr>
        <p:txBody>
          <a:bodyPr wrap="square" lIns="0" tIns="0" rIns="0" bIns="0" rtlCol="0" anchor="ctr"/>
          <a:lstStyle/>
          <a:p>
            <a:pPr indent="0" marL="0">
              <a:buNone/>
            </a:pPr>
            <a:r>
              <a:rPr lang="en-US" sz="1700" b="1" dirty="0">
                <a:solidFill>
                  <a:srgbClr val="1C2321"/>
                </a:solidFill>
                <a:latin typeface="Calibri" pitchFamily="34" charset="0"/>
                <a:ea typeface="Calibri" pitchFamily="34" charset="-122"/>
                <a:cs typeface="Calibri" pitchFamily="34" charset="-120"/>
              </a:rPr>
              <a:t>Parent view</a:t>
            </a:r>
            <a:endParaRPr lang="en-US" sz="1700" dirty="0"/>
          </a:p>
        </p:txBody>
      </p:sp>
      <p:sp>
        <p:nvSpPr>
          <p:cNvPr id="13" name="Text 9"/>
          <p:cNvSpPr/>
          <p:nvPr/>
        </p:nvSpPr>
        <p:spPr>
          <a:xfrm>
            <a:off x="6675120" y="3063240"/>
            <a:ext cx="4617720" cy="265176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5B6663"/>
                </a:solidFill>
                <a:latin typeface="Calibri" pitchFamily="34" charset="0"/>
                <a:ea typeface="Calibri" pitchFamily="34" charset="-122"/>
                <a:cs typeface="Calibri" pitchFamily="34" charset="-120"/>
              </a:rPr>
              <a:t>Verified guardians only — an unverified link gets nothing, hard stop</a:t>
            </a:r>
            <a:endParaRPr lang="en-US" sz="1300" dirty="0"/>
          </a:p>
          <a:p>
            <a:pPr marL="342900" indent="-342900">
              <a:spcAft>
                <a:spcPts val="800"/>
              </a:spcAft>
              <a:buSzPct val="100000"/>
              <a:buChar char="•"/>
            </a:pPr>
            <a:r>
              <a:rPr lang="en-US" sz="1300" dirty="0">
                <a:solidFill>
                  <a:srgbClr val="5B6663"/>
                </a:solidFill>
                <a:latin typeface="Calibri" pitchFamily="34" charset="0"/>
                <a:ea typeface="Calibri" pitchFamily="34" charset="-122"/>
                <a:cs typeface="Calibri" pitchFamily="34" charset="-120"/>
              </a:rPr>
              <a:t>Progress in plain language; never clinical or diagnostic terms</a:t>
            </a:r>
            <a:endParaRPr lang="en-US" sz="1300" dirty="0"/>
          </a:p>
          <a:p>
            <a:pPr marL="342900" indent="-342900">
              <a:spcAft>
                <a:spcPts val="800"/>
              </a:spcAft>
              <a:buSzPct val="100000"/>
              <a:buChar char="•"/>
            </a:pPr>
            <a:r>
              <a:rPr lang="en-US" sz="1300" dirty="0">
                <a:solidFill>
                  <a:srgbClr val="5B6663"/>
                </a:solidFill>
                <a:latin typeface="Calibri" pitchFamily="34" charset="0"/>
                <a:ea typeface="Calibri" pitchFamily="34" charset="-122"/>
                <a:cs typeface="Calibri" pitchFamily="34" charset="-120"/>
              </a:rPr>
              <a:t>Teacher-drafted summaries arrive only after the teacher sends them</a:t>
            </a:r>
            <a:endParaRPr lang="en-US" sz="1300" dirty="0"/>
          </a:p>
          <a:p>
            <a:pPr marL="342900" indent="-342900">
              <a:spcAft>
                <a:spcPts val="800"/>
              </a:spcAft>
              <a:buSzPct val="100000"/>
              <a:buChar char="•"/>
            </a:pPr>
            <a:r>
              <a:rPr lang="en-US" sz="1300" dirty="0">
                <a:solidFill>
                  <a:srgbClr val="5B6663"/>
                </a:solidFill>
                <a:latin typeface="Calibri" pitchFamily="34" charset="0"/>
                <a:ea typeface="Calibri" pitchFamily="34" charset="-122"/>
                <a:cs typeface="Calibri" pitchFamily="34" charset="-120"/>
              </a:rPr>
              <a:t>Calendar and reports for their child alone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5"/>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200" kern="0" dirty="0">
                <a:solidFill>
                  <a:srgbClr val="1F6F63"/>
                </a:solidFill>
                <a:latin typeface="Calibri" pitchFamily="34" charset="0"/>
                <a:ea typeface="Calibri" pitchFamily="34" charset="-122"/>
                <a:cs typeface="Calibri" pitchFamily="34" charset="-120"/>
              </a:rPr>
              <a:t>PRINCIPAL &amp; ADMIN</a:t>
            </a:r>
            <a:endParaRPr lang="en-US" sz="1200" dirty="0"/>
          </a:p>
        </p:txBody>
      </p:sp>
      <p:sp>
        <p:nvSpPr>
          <p:cNvPr id="3" name="Text 1"/>
          <p:cNvSpPr/>
          <p:nvPr/>
        </p:nvSpPr>
        <p:spPr>
          <a:xfrm>
            <a:off x="548640" y="621792"/>
            <a:ext cx="11091672" cy="685800"/>
          </a:xfrm>
          <a:prstGeom prst="rect">
            <a:avLst/>
          </a:prstGeom>
          <a:noFill/>
          <a:ln/>
        </p:spPr>
        <p:txBody>
          <a:bodyPr wrap="square" lIns="0" tIns="0" rIns="0" bIns="0" rtlCol="0" anchor="ctr"/>
          <a:lstStyle/>
          <a:p>
            <a:pPr indent="0" marL="0">
              <a:buNone/>
            </a:pPr>
            <a:r>
              <a:rPr lang="en-US" sz="3300" b="1" dirty="0">
                <a:solidFill>
                  <a:srgbClr val="1C2321"/>
                </a:solidFill>
                <a:latin typeface="Cambria" pitchFamily="34" charset="0"/>
                <a:ea typeface="Cambria" pitchFamily="34" charset="-122"/>
                <a:cs typeface="Cambria" pitchFamily="34" charset="-120"/>
              </a:rPr>
              <a:t>Oversight without surveillance</a:t>
            </a:r>
            <a:endParaRPr lang="en-US" sz="3300" dirty="0"/>
          </a:p>
        </p:txBody>
      </p:sp>
      <p:sp>
        <p:nvSpPr>
          <p:cNvPr id="4" name="Shape 2"/>
          <p:cNvSpPr/>
          <p:nvPr/>
        </p:nvSpPr>
        <p:spPr>
          <a:xfrm>
            <a:off x="548640" y="1783080"/>
            <a:ext cx="3453384" cy="3931920"/>
          </a:xfrm>
          <a:prstGeom prst="roundRect">
            <a:avLst>
              <a:gd name="adj" fmla="val 2383"/>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5" name="Shape 3"/>
          <p:cNvSpPr/>
          <p:nvPr/>
        </p:nvSpPr>
        <p:spPr>
          <a:xfrm>
            <a:off x="868680" y="2103120"/>
            <a:ext cx="640080" cy="640080"/>
          </a:xfrm>
          <a:prstGeom prst="ellipse">
            <a:avLst/>
          </a:prstGeom>
          <a:solidFill>
            <a:srgbClr val="DCEEEA"/>
          </a:solidFill>
          <a:ln/>
        </p:spPr>
      </p:sp>
      <p:pic>
        <p:nvPicPr>
          <p:cNvPr id="6" name="Image 0" descr="preencoded.png">    </p:cNvPr>
          <p:cNvPicPr>
            <a:picLocks noChangeAspect="1"/>
          </p:cNvPicPr>
          <p:nvPr/>
        </p:nvPicPr>
        <p:blipFill>
          <a:blip r:embed="rId1"/>
          <a:stretch>
            <a:fillRect/>
          </a:stretch>
        </p:blipFill>
        <p:spPr>
          <a:xfrm>
            <a:off x="1035101" y="2269541"/>
            <a:ext cx="307238" cy="307238"/>
          </a:xfrm>
          <a:prstGeom prst="rect">
            <a:avLst/>
          </a:prstGeom>
        </p:spPr>
      </p:pic>
      <p:sp>
        <p:nvSpPr>
          <p:cNvPr id="7" name="Text 4"/>
          <p:cNvSpPr/>
          <p:nvPr/>
        </p:nvSpPr>
        <p:spPr>
          <a:xfrm>
            <a:off x="868680" y="2971800"/>
            <a:ext cx="2813304" cy="411480"/>
          </a:xfrm>
          <a:prstGeom prst="rect">
            <a:avLst/>
          </a:prstGeom>
          <a:noFill/>
          <a:ln/>
        </p:spPr>
        <p:txBody>
          <a:bodyPr wrap="square" lIns="0" tIns="0" rIns="0" bIns="0" rtlCol="0" anchor="ctr"/>
          <a:lstStyle/>
          <a:p>
            <a:pPr indent="0" marL="0">
              <a:buNone/>
            </a:pPr>
            <a:r>
              <a:rPr lang="en-US" sz="1550" b="1" dirty="0">
                <a:solidFill>
                  <a:srgbClr val="1C2321"/>
                </a:solidFill>
                <a:latin typeface="Calibri" pitchFamily="34" charset="0"/>
                <a:ea typeface="Calibri" pitchFamily="34" charset="-122"/>
                <a:cs typeface="Calibri" pitchFamily="34" charset="-120"/>
              </a:rPr>
              <a:t>Principal dashboards</a:t>
            </a:r>
            <a:endParaRPr lang="en-US" sz="1550" dirty="0"/>
          </a:p>
        </p:txBody>
      </p:sp>
      <p:sp>
        <p:nvSpPr>
          <p:cNvPr id="8" name="Text 5"/>
          <p:cNvSpPr/>
          <p:nvPr/>
        </p:nvSpPr>
        <p:spPr>
          <a:xfrm>
            <a:off x="868680" y="3429000"/>
            <a:ext cx="2813304" cy="2103120"/>
          </a:xfrm>
          <a:prstGeom prst="rect">
            <a:avLst/>
          </a:prstGeom>
          <a:noFill/>
          <a:ln/>
        </p:spPr>
        <p:txBody>
          <a:bodyPr wrap="square" lIns="0" tIns="0" rIns="0" bIns="0" rtlCol="0" anchor="ctr"/>
          <a:lstStyle/>
          <a:p>
            <a:pPr indent="0" marL="0">
              <a:buNone/>
            </a:pPr>
            <a:r>
              <a:rPr lang="en-US" sz="1200" dirty="0">
                <a:solidFill>
                  <a:srgbClr val="5B6663"/>
                </a:solidFill>
                <a:latin typeface="Calibri" pitchFamily="34" charset="0"/>
                <a:ea typeface="Calibri" pitchFamily="34" charset="-122"/>
                <a:cs typeface="Calibri" pitchFamily="34" charset="-120"/>
              </a:rPr>
              <a:t>School-wide mastery, class drill-downs, early-warning alerts. Teacher-to-teacher comparison exists only if school policy enables it.</a:t>
            </a:r>
            <a:endParaRPr lang="en-US" sz="1200" dirty="0"/>
          </a:p>
        </p:txBody>
      </p:sp>
      <p:sp>
        <p:nvSpPr>
          <p:cNvPr id="9" name="Shape 6"/>
          <p:cNvSpPr/>
          <p:nvPr/>
        </p:nvSpPr>
        <p:spPr>
          <a:xfrm>
            <a:off x="4367784" y="1783080"/>
            <a:ext cx="3453384" cy="3931920"/>
          </a:xfrm>
          <a:prstGeom prst="roundRect">
            <a:avLst>
              <a:gd name="adj" fmla="val 2383"/>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10" name="Shape 7"/>
          <p:cNvSpPr/>
          <p:nvPr/>
        </p:nvSpPr>
        <p:spPr>
          <a:xfrm>
            <a:off x="4687824" y="2103120"/>
            <a:ext cx="640080" cy="640080"/>
          </a:xfrm>
          <a:prstGeom prst="ellipse">
            <a:avLst/>
          </a:prstGeom>
          <a:solidFill>
            <a:srgbClr val="1F6F63"/>
          </a:solidFill>
          <a:ln/>
        </p:spPr>
      </p:sp>
      <p:pic>
        <p:nvPicPr>
          <p:cNvPr id="11" name="Image 1" descr="preencoded.png">    </p:cNvPr>
          <p:cNvPicPr>
            <a:picLocks noChangeAspect="1"/>
          </p:cNvPicPr>
          <p:nvPr/>
        </p:nvPicPr>
        <p:blipFill>
          <a:blip r:embed="rId2"/>
          <a:stretch>
            <a:fillRect/>
          </a:stretch>
        </p:blipFill>
        <p:spPr>
          <a:xfrm>
            <a:off x="4854245" y="2269541"/>
            <a:ext cx="307238" cy="307238"/>
          </a:xfrm>
          <a:prstGeom prst="rect">
            <a:avLst/>
          </a:prstGeom>
        </p:spPr>
      </p:pic>
      <p:sp>
        <p:nvSpPr>
          <p:cNvPr id="12" name="Text 8"/>
          <p:cNvSpPr/>
          <p:nvPr/>
        </p:nvSpPr>
        <p:spPr>
          <a:xfrm>
            <a:off x="4687824" y="2971800"/>
            <a:ext cx="2813304" cy="411480"/>
          </a:xfrm>
          <a:prstGeom prst="rect">
            <a:avLst/>
          </a:prstGeom>
          <a:noFill/>
          <a:ln/>
        </p:spPr>
        <p:txBody>
          <a:bodyPr wrap="square" lIns="0" tIns="0" rIns="0" bIns="0" rtlCol="0" anchor="ctr"/>
          <a:lstStyle/>
          <a:p>
            <a:pPr indent="0" marL="0">
              <a:buNone/>
            </a:pPr>
            <a:r>
              <a:rPr lang="en-US" sz="1550" b="1" dirty="0">
                <a:solidFill>
                  <a:srgbClr val="1C2321"/>
                </a:solidFill>
                <a:latin typeface="Calibri" pitchFamily="34" charset="0"/>
                <a:ea typeface="Calibri" pitchFamily="34" charset="-122"/>
                <a:cs typeface="Calibri" pitchFamily="34" charset="-120"/>
              </a:rPr>
              <a:t>Admin operations</a:t>
            </a:r>
            <a:endParaRPr lang="en-US" sz="1550" dirty="0"/>
          </a:p>
        </p:txBody>
      </p:sp>
      <p:sp>
        <p:nvSpPr>
          <p:cNvPr id="13" name="Text 9"/>
          <p:cNvSpPr/>
          <p:nvPr/>
        </p:nvSpPr>
        <p:spPr>
          <a:xfrm>
            <a:off x="4687824" y="3429000"/>
            <a:ext cx="2813304" cy="2103120"/>
          </a:xfrm>
          <a:prstGeom prst="rect">
            <a:avLst/>
          </a:prstGeom>
          <a:noFill/>
          <a:ln/>
        </p:spPr>
        <p:txBody>
          <a:bodyPr wrap="square" lIns="0" tIns="0" rIns="0" bIns="0" rtlCol="0" anchor="ctr"/>
          <a:lstStyle/>
          <a:p>
            <a:pPr indent="0" marL="0">
              <a:buNone/>
            </a:pPr>
            <a:r>
              <a:rPr lang="en-US" sz="1200" dirty="0">
                <a:solidFill>
                  <a:srgbClr val="5B6663"/>
                </a:solidFill>
                <a:latin typeface="Calibri" pitchFamily="34" charset="0"/>
                <a:ea typeface="Calibri" pitchFamily="34" charset="-122"/>
                <a:cs typeface="Calibri" pitchFamily="34" charset="-120"/>
              </a:rPr>
              <a:t>Onboarding, people and classes, CSV import with per-row validation, SSO, white-label branding — governance colours can never be re-themed.</a:t>
            </a:r>
            <a:endParaRPr lang="en-US" sz="1200" dirty="0"/>
          </a:p>
        </p:txBody>
      </p:sp>
      <p:sp>
        <p:nvSpPr>
          <p:cNvPr id="14" name="Shape 10"/>
          <p:cNvSpPr/>
          <p:nvPr/>
        </p:nvSpPr>
        <p:spPr>
          <a:xfrm>
            <a:off x="8186928" y="1783080"/>
            <a:ext cx="3453384" cy="3931920"/>
          </a:xfrm>
          <a:prstGeom prst="roundRect">
            <a:avLst>
              <a:gd name="adj" fmla="val 2383"/>
            </a:avLst>
          </a:prstGeom>
          <a:solidFill>
            <a:srgbClr val="FFFFFF"/>
          </a:solidFill>
          <a:ln w="12700">
            <a:solidFill>
              <a:srgbClr val="E3E6E3"/>
            </a:solidFill>
            <a:prstDash val="solid"/>
          </a:ln>
          <a:effectLst>
            <a:outerShdw sx="100000" sy="100000" kx="0" ky="0" algn="bl" rotWithShape="0" blurRad="76200" dist="25400" dir="5400000">
              <a:srgbClr val="1C2321">
                <a:alpha val="12000"/>
              </a:srgbClr>
            </a:outerShdw>
          </a:effectLst>
        </p:spPr>
      </p:sp>
      <p:sp>
        <p:nvSpPr>
          <p:cNvPr id="15" name="Shape 11"/>
          <p:cNvSpPr/>
          <p:nvPr/>
        </p:nvSpPr>
        <p:spPr>
          <a:xfrm>
            <a:off x="8506968" y="2103120"/>
            <a:ext cx="640080" cy="640080"/>
          </a:xfrm>
          <a:prstGeom prst="ellipse">
            <a:avLst/>
          </a:prstGeom>
          <a:solidFill>
            <a:srgbClr val="DCEEEA"/>
          </a:solidFill>
          <a:ln/>
        </p:spPr>
      </p:sp>
      <p:pic>
        <p:nvPicPr>
          <p:cNvPr id="16" name="Image 2" descr="preencoded.png">    </p:cNvPr>
          <p:cNvPicPr>
            <a:picLocks noChangeAspect="1"/>
          </p:cNvPicPr>
          <p:nvPr/>
        </p:nvPicPr>
        <p:blipFill>
          <a:blip r:embed="rId3"/>
          <a:stretch>
            <a:fillRect/>
          </a:stretch>
        </p:blipFill>
        <p:spPr>
          <a:xfrm>
            <a:off x="8673389" y="2269541"/>
            <a:ext cx="307238" cy="307238"/>
          </a:xfrm>
          <a:prstGeom prst="rect">
            <a:avLst/>
          </a:prstGeom>
        </p:spPr>
      </p:pic>
      <p:sp>
        <p:nvSpPr>
          <p:cNvPr id="17" name="Text 12"/>
          <p:cNvSpPr/>
          <p:nvPr/>
        </p:nvSpPr>
        <p:spPr>
          <a:xfrm>
            <a:off x="8506968" y="2971800"/>
            <a:ext cx="2813304" cy="411480"/>
          </a:xfrm>
          <a:prstGeom prst="rect">
            <a:avLst/>
          </a:prstGeom>
          <a:noFill/>
          <a:ln/>
        </p:spPr>
        <p:txBody>
          <a:bodyPr wrap="square" lIns="0" tIns="0" rIns="0" bIns="0" rtlCol="0" anchor="ctr"/>
          <a:lstStyle/>
          <a:p>
            <a:pPr indent="0" marL="0">
              <a:buNone/>
            </a:pPr>
            <a:r>
              <a:rPr lang="en-US" sz="1550" b="1" dirty="0">
                <a:solidFill>
                  <a:srgbClr val="1C2321"/>
                </a:solidFill>
                <a:latin typeface="Calibri" pitchFamily="34" charset="0"/>
                <a:ea typeface="Calibri" pitchFamily="34" charset="-122"/>
                <a:cs typeface="Calibri" pitchFamily="34" charset="-120"/>
              </a:rPr>
              <a:t>The audit chain</a:t>
            </a:r>
            <a:endParaRPr lang="en-US" sz="1550" dirty="0"/>
          </a:p>
        </p:txBody>
      </p:sp>
      <p:sp>
        <p:nvSpPr>
          <p:cNvPr id="18" name="Text 13"/>
          <p:cNvSpPr/>
          <p:nvPr/>
        </p:nvSpPr>
        <p:spPr>
          <a:xfrm>
            <a:off x="8506968" y="3429000"/>
            <a:ext cx="2813304" cy="2103120"/>
          </a:xfrm>
          <a:prstGeom prst="rect">
            <a:avLst/>
          </a:prstGeom>
          <a:noFill/>
          <a:ln/>
        </p:spPr>
        <p:txBody>
          <a:bodyPr wrap="square" lIns="0" tIns="0" rIns="0" bIns="0" rtlCol="0" anchor="ctr"/>
          <a:lstStyle/>
          <a:p>
            <a:pPr indent="0" marL="0">
              <a:buNone/>
            </a:pPr>
            <a:r>
              <a:rPr lang="en-US" sz="1200" dirty="0">
                <a:solidFill>
                  <a:srgbClr val="5B6663"/>
                </a:solidFill>
                <a:latin typeface="Calibri" pitchFamily="34" charset="0"/>
                <a:ea typeface="Calibri" pitchFamily="34" charset="-122"/>
                <a:cs typeface="Calibri" pitchFamily="34" charset="-120"/>
              </a:rPr>
              <a:t>Tamper-evident, ids-only audit log; data-subject export and erasure that keep the chain verifiable. Safeguarding alerts never leak into notifications.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6F63"/>
        </a:solidFill>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indent="0" marL="0">
              <a:buNone/>
            </a:pPr>
            <a:r>
              <a:rPr lang="en-US" sz="1200" b="1" spc="200" kern="0" dirty="0">
                <a:solidFill>
                  <a:srgbClr val="DCEEEA"/>
                </a:solidFill>
                <a:latin typeface="Calibri" pitchFamily="34" charset="0"/>
                <a:ea typeface="Calibri" pitchFamily="34" charset="-122"/>
                <a:cs typeface="Calibri" pitchFamily="34" charset="-120"/>
              </a:rPr>
              <a:t>YOUR DEMO CAST</a:t>
            </a:r>
            <a:endParaRPr lang="en-US" sz="1200" dirty="0"/>
          </a:p>
        </p:txBody>
      </p:sp>
      <p:sp>
        <p:nvSpPr>
          <p:cNvPr id="3" name="Text 1"/>
          <p:cNvSpPr/>
          <p:nvPr/>
        </p:nvSpPr>
        <p:spPr>
          <a:xfrm>
            <a:off x="548640" y="621792"/>
            <a:ext cx="11091672"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Sign in as every stakeholder — the two-school demo world</a:t>
            </a:r>
            <a:endParaRPr lang="en-US" sz="3000" dirty="0"/>
          </a:p>
        </p:txBody>
      </p:sp>
      <p:sp>
        <p:nvSpPr>
          <p:cNvPr id="4" name="Text 2"/>
          <p:cNvSpPr/>
          <p:nvPr/>
        </p:nvSpPr>
        <p:spPr>
          <a:xfrm>
            <a:off x="548640" y="1600200"/>
            <a:ext cx="1783080" cy="493776"/>
          </a:xfrm>
          <a:prstGeom prst="rect">
            <a:avLst/>
          </a:prstGeom>
          <a:noFill/>
          <a:ln/>
        </p:spPr>
        <p:txBody>
          <a:bodyPr wrap="square" lIns="0" tIns="0" rIns="0" bIns="0" rtlCol="0" anchor="ctr"/>
          <a:lstStyle/>
          <a:p>
            <a:pPr indent="0" marL="0">
              <a:buNone/>
            </a:pPr>
            <a:r>
              <a:rPr lang="en-US" sz="1250" b="1" dirty="0">
                <a:solidFill>
                  <a:srgbClr val="DCEEEA"/>
                </a:solidFill>
                <a:latin typeface="Calibri" pitchFamily="34" charset="0"/>
                <a:ea typeface="Calibri" pitchFamily="34" charset="-122"/>
                <a:cs typeface="Calibri" pitchFamily="34" charset="-120"/>
              </a:rPr>
              <a:t>Role</a:t>
            </a:r>
            <a:endParaRPr lang="en-US" sz="1250" dirty="0"/>
          </a:p>
        </p:txBody>
      </p:sp>
      <p:sp>
        <p:nvSpPr>
          <p:cNvPr id="5" name="Text 3"/>
          <p:cNvSpPr/>
          <p:nvPr/>
        </p:nvSpPr>
        <p:spPr>
          <a:xfrm>
            <a:off x="2423160" y="1600200"/>
            <a:ext cx="3520440" cy="493776"/>
          </a:xfrm>
          <a:prstGeom prst="rect">
            <a:avLst/>
          </a:prstGeom>
          <a:noFill/>
          <a:ln/>
        </p:spPr>
        <p:txBody>
          <a:bodyPr wrap="square" lIns="0" tIns="0" rIns="0" bIns="0" rtlCol="0" anchor="ctr"/>
          <a:lstStyle/>
          <a:p>
            <a:pPr indent="0" marL="0">
              <a:buNone/>
            </a:pPr>
            <a:r>
              <a:rPr lang="en-US" sz="1250" b="1" dirty="0">
                <a:solidFill>
                  <a:srgbClr val="DCEEEA"/>
                </a:solidFill>
                <a:latin typeface="Courier New" pitchFamily="34" charset="0"/>
                <a:ea typeface="Courier New" pitchFamily="34" charset="-122"/>
                <a:cs typeface="Courier New" pitchFamily="34" charset="-120"/>
              </a:rPr>
              <a:t>Email</a:t>
            </a:r>
            <a:endParaRPr lang="en-US" sz="1250" dirty="0"/>
          </a:p>
        </p:txBody>
      </p:sp>
      <p:sp>
        <p:nvSpPr>
          <p:cNvPr id="6" name="Text 4"/>
          <p:cNvSpPr/>
          <p:nvPr/>
        </p:nvSpPr>
        <p:spPr>
          <a:xfrm>
            <a:off x="6035040" y="1600200"/>
            <a:ext cx="1691640" cy="493776"/>
          </a:xfrm>
          <a:prstGeom prst="rect">
            <a:avLst/>
          </a:prstGeom>
          <a:noFill/>
          <a:ln/>
        </p:spPr>
        <p:txBody>
          <a:bodyPr wrap="square" lIns="0" tIns="0" rIns="0" bIns="0" rtlCol="0" anchor="ctr"/>
          <a:lstStyle/>
          <a:p>
            <a:pPr indent="0" marL="0">
              <a:buNone/>
            </a:pPr>
            <a:r>
              <a:rPr lang="en-US" sz="1250" b="1" dirty="0">
                <a:solidFill>
                  <a:srgbClr val="DCEEEA"/>
                </a:solidFill>
                <a:latin typeface="Courier New" pitchFamily="34" charset="0"/>
                <a:ea typeface="Courier New" pitchFamily="34" charset="-122"/>
                <a:cs typeface="Courier New" pitchFamily="34" charset="-120"/>
              </a:rPr>
              <a:t>Password</a:t>
            </a:r>
            <a:endParaRPr lang="en-US" sz="1250" dirty="0"/>
          </a:p>
        </p:txBody>
      </p:sp>
      <p:sp>
        <p:nvSpPr>
          <p:cNvPr id="7" name="Text 5"/>
          <p:cNvSpPr/>
          <p:nvPr/>
        </p:nvSpPr>
        <p:spPr>
          <a:xfrm>
            <a:off x="7818120" y="1600200"/>
            <a:ext cx="3794760" cy="493776"/>
          </a:xfrm>
          <a:prstGeom prst="rect">
            <a:avLst/>
          </a:prstGeom>
          <a:noFill/>
          <a:ln/>
        </p:spPr>
        <p:txBody>
          <a:bodyPr wrap="square" lIns="0" tIns="0" rIns="0" bIns="0" rtlCol="0" anchor="ctr"/>
          <a:lstStyle/>
          <a:p>
            <a:pPr indent="0" marL="0">
              <a:buNone/>
            </a:pPr>
            <a:r>
              <a:rPr lang="en-US" sz="1250" b="1" dirty="0">
                <a:solidFill>
                  <a:srgbClr val="DCEEEA"/>
                </a:solidFill>
                <a:latin typeface="Calibri" pitchFamily="34" charset="0"/>
                <a:ea typeface="Calibri" pitchFamily="34" charset="-122"/>
                <a:cs typeface="Calibri" pitchFamily="34" charset="-120"/>
              </a:rPr>
              <a:t>Shows</a:t>
            </a:r>
            <a:endParaRPr lang="en-US" sz="1250" dirty="0"/>
          </a:p>
        </p:txBody>
      </p:sp>
      <p:sp>
        <p:nvSpPr>
          <p:cNvPr id="8" name="Shape 6"/>
          <p:cNvSpPr/>
          <p:nvPr/>
        </p:nvSpPr>
        <p:spPr>
          <a:xfrm>
            <a:off x="411480" y="2139696"/>
            <a:ext cx="11365992" cy="512064"/>
          </a:xfrm>
          <a:prstGeom prst="roundRect">
            <a:avLst>
              <a:gd name="adj" fmla="val 8929"/>
            </a:avLst>
          </a:prstGeom>
          <a:solidFill>
            <a:srgbClr val="1A5F55"/>
          </a:solidFill>
          <a:ln/>
        </p:spPr>
      </p:sp>
      <p:sp>
        <p:nvSpPr>
          <p:cNvPr id="9" name="Text 7"/>
          <p:cNvSpPr/>
          <p:nvPr/>
        </p:nvSpPr>
        <p:spPr>
          <a:xfrm>
            <a:off x="548640" y="2167128"/>
            <a:ext cx="1783080" cy="493776"/>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Teacher (lead)</a:t>
            </a:r>
            <a:endParaRPr lang="en-US" sz="1150" dirty="0"/>
          </a:p>
        </p:txBody>
      </p:sp>
      <p:sp>
        <p:nvSpPr>
          <p:cNvPr id="10" name="Text 8"/>
          <p:cNvSpPr/>
          <p:nvPr/>
        </p:nvSpPr>
        <p:spPr>
          <a:xfrm>
            <a:off x="2423160" y="2167128"/>
            <a:ext cx="3520440" cy="493776"/>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tara.teach@horizonvale.edu.au</a:t>
            </a:r>
            <a:endParaRPr lang="en-US" sz="1150" dirty="0"/>
          </a:p>
        </p:txBody>
      </p:sp>
      <p:sp>
        <p:nvSpPr>
          <p:cNvPr id="11" name="Text 9"/>
          <p:cNvSpPr/>
          <p:nvPr/>
        </p:nvSpPr>
        <p:spPr>
          <a:xfrm>
            <a:off x="6035040" y="2167128"/>
            <a:ext cx="1691640" cy="493776"/>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teacher-hva-1</a:t>
            </a:r>
            <a:endParaRPr lang="en-US" sz="1150" dirty="0"/>
          </a:p>
        </p:txBody>
      </p:sp>
      <p:sp>
        <p:nvSpPr>
          <p:cNvPr id="12" name="Text 10"/>
          <p:cNvSpPr/>
          <p:nvPr/>
        </p:nvSpPr>
        <p:spPr>
          <a:xfrm>
            <a:off x="7818120" y="2167128"/>
            <a:ext cx="3794760" cy="493776"/>
          </a:xfrm>
          <a:prstGeom prst="rect">
            <a:avLst/>
          </a:prstGeom>
          <a:noFill/>
          <a:ln/>
        </p:spPr>
        <p:txBody>
          <a:bodyPr wrap="square" lIns="0" tIns="0" rIns="0" bIns="0" rtlCol="0" anchor="ctr"/>
          <a:lstStyle/>
          <a:p>
            <a:pPr indent="0" marL="0">
              <a:buNone/>
            </a:pPr>
            <a:r>
              <a:rPr lang="en-US" sz="1100" dirty="0">
                <a:solidFill>
                  <a:srgbClr val="BFD9D3"/>
                </a:solidFill>
                <a:latin typeface="Calibri" pitchFamily="34" charset="0"/>
                <a:ea typeface="Calibri" pitchFamily="34" charset="-122"/>
                <a:cs typeface="Calibri" pitchFamily="34" charset="-120"/>
              </a:rPr>
              <a:t>Content Studio, curricula, assessments, agent, insights</a:t>
            </a:r>
            <a:endParaRPr lang="en-US" sz="1100" dirty="0"/>
          </a:p>
        </p:txBody>
      </p:sp>
      <p:sp>
        <p:nvSpPr>
          <p:cNvPr id="13" name="Text 11"/>
          <p:cNvSpPr/>
          <p:nvPr/>
        </p:nvSpPr>
        <p:spPr>
          <a:xfrm>
            <a:off x="548640" y="2734056"/>
            <a:ext cx="1783080" cy="493776"/>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Teacher (colleague)</a:t>
            </a:r>
            <a:endParaRPr lang="en-US" sz="1150" dirty="0"/>
          </a:p>
        </p:txBody>
      </p:sp>
      <p:sp>
        <p:nvSpPr>
          <p:cNvPr id="14" name="Text 12"/>
          <p:cNvSpPr/>
          <p:nvPr/>
        </p:nvSpPr>
        <p:spPr>
          <a:xfrm>
            <a:off x="2423160" y="2734056"/>
            <a:ext cx="3520440" cy="493776"/>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tom.turner@horizonvale.edu.au</a:t>
            </a:r>
            <a:endParaRPr lang="en-US" sz="1150" dirty="0"/>
          </a:p>
        </p:txBody>
      </p:sp>
      <p:sp>
        <p:nvSpPr>
          <p:cNvPr id="15" name="Text 13"/>
          <p:cNvSpPr/>
          <p:nvPr/>
        </p:nvSpPr>
        <p:spPr>
          <a:xfrm>
            <a:off x="6035040" y="2734056"/>
            <a:ext cx="1691640" cy="493776"/>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teacher-hva-2</a:t>
            </a:r>
            <a:endParaRPr lang="en-US" sz="1150" dirty="0"/>
          </a:p>
        </p:txBody>
      </p:sp>
      <p:sp>
        <p:nvSpPr>
          <p:cNvPr id="16" name="Text 14"/>
          <p:cNvSpPr/>
          <p:nvPr/>
        </p:nvSpPr>
        <p:spPr>
          <a:xfrm>
            <a:off x="7818120" y="2734056"/>
            <a:ext cx="3794760" cy="493776"/>
          </a:xfrm>
          <a:prstGeom prst="rect">
            <a:avLst/>
          </a:prstGeom>
          <a:noFill/>
          <a:ln/>
        </p:spPr>
        <p:txBody>
          <a:bodyPr wrap="square" lIns="0" tIns="0" rIns="0" bIns="0" rtlCol="0" anchor="ctr"/>
          <a:lstStyle/>
          <a:p>
            <a:pPr indent="0" marL="0">
              <a:buNone/>
            </a:pPr>
            <a:r>
              <a:rPr lang="en-US" sz="1100" dirty="0">
                <a:solidFill>
                  <a:srgbClr val="BFD9D3"/>
                </a:solidFill>
                <a:latin typeface="Calibri" pitchFamily="34" charset="0"/>
                <a:ea typeface="Calibri" pitchFamily="34" charset="-122"/>
                <a:cs typeface="Calibri" pitchFamily="34" charset="-120"/>
              </a:rPr>
              <a:t>“Shared with you” — reuse without ownership</a:t>
            </a:r>
            <a:endParaRPr lang="en-US" sz="1100" dirty="0"/>
          </a:p>
        </p:txBody>
      </p:sp>
      <p:sp>
        <p:nvSpPr>
          <p:cNvPr id="17" name="Shape 15"/>
          <p:cNvSpPr/>
          <p:nvPr/>
        </p:nvSpPr>
        <p:spPr>
          <a:xfrm>
            <a:off x="411480" y="3273552"/>
            <a:ext cx="11365992" cy="512064"/>
          </a:xfrm>
          <a:prstGeom prst="roundRect">
            <a:avLst>
              <a:gd name="adj" fmla="val 8929"/>
            </a:avLst>
          </a:prstGeom>
          <a:solidFill>
            <a:srgbClr val="1A5F55"/>
          </a:solidFill>
          <a:ln/>
        </p:spPr>
      </p:sp>
      <p:sp>
        <p:nvSpPr>
          <p:cNvPr id="18" name="Text 16"/>
          <p:cNvSpPr/>
          <p:nvPr/>
        </p:nvSpPr>
        <p:spPr>
          <a:xfrm>
            <a:off x="548640" y="3300984"/>
            <a:ext cx="1783080" cy="493776"/>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Student</a:t>
            </a:r>
            <a:endParaRPr lang="en-US" sz="1150" dirty="0"/>
          </a:p>
        </p:txBody>
      </p:sp>
      <p:sp>
        <p:nvSpPr>
          <p:cNvPr id="19" name="Text 17"/>
          <p:cNvSpPr/>
          <p:nvPr/>
        </p:nvSpPr>
        <p:spPr>
          <a:xfrm>
            <a:off x="2423160" y="3300984"/>
            <a:ext cx="3520440" cy="493776"/>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aaliyah.wilson0@horizonvale.edu.au</a:t>
            </a:r>
            <a:endParaRPr lang="en-US" sz="1150" dirty="0"/>
          </a:p>
        </p:txBody>
      </p:sp>
      <p:sp>
        <p:nvSpPr>
          <p:cNvPr id="20" name="Text 18"/>
          <p:cNvSpPr/>
          <p:nvPr/>
        </p:nvSpPr>
        <p:spPr>
          <a:xfrm>
            <a:off x="6035040" y="3300984"/>
            <a:ext cx="1691640" cy="493776"/>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student-hva-1-01</a:t>
            </a:r>
            <a:endParaRPr lang="en-US" sz="1150" dirty="0"/>
          </a:p>
        </p:txBody>
      </p:sp>
      <p:sp>
        <p:nvSpPr>
          <p:cNvPr id="21" name="Text 19"/>
          <p:cNvSpPr/>
          <p:nvPr/>
        </p:nvSpPr>
        <p:spPr>
          <a:xfrm>
            <a:off x="7818120" y="3300984"/>
            <a:ext cx="3794760" cy="493776"/>
          </a:xfrm>
          <a:prstGeom prst="rect">
            <a:avLst/>
          </a:prstGeom>
          <a:noFill/>
          <a:ln/>
        </p:spPr>
        <p:txBody>
          <a:bodyPr wrap="square" lIns="0" tIns="0" rIns="0" bIns="0" rtlCol="0" anchor="ctr"/>
          <a:lstStyle/>
          <a:p>
            <a:pPr indent="0" marL="0">
              <a:buNone/>
            </a:pPr>
            <a:r>
              <a:rPr lang="en-US" sz="1100" dirty="0">
                <a:solidFill>
                  <a:srgbClr val="BFD9D3"/>
                </a:solidFill>
                <a:latin typeface="Calibri" pitchFamily="34" charset="0"/>
                <a:ea typeface="Calibri" pitchFamily="34" charset="-122"/>
                <a:cs typeface="Calibri" pitchFamily="34" charset="-120"/>
              </a:rPr>
              <a:t>Workspace, attempts, ask-for-help (has real data)</a:t>
            </a:r>
            <a:endParaRPr lang="en-US" sz="1100" dirty="0"/>
          </a:p>
        </p:txBody>
      </p:sp>
      <p:sp>
        <p:nvSpPr>
          <p:cNvPr id="22" name="Text 20"/>
          <p:cNvSpPr/>
          <p:nvPr/>
        </p:nvSpPr>
        <p:spPr>
          <a:xfrm>
            <a:off x="548640" y="3867912"/>
            <a:ext cx="1783080" cy="493776"/>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Parent</a:t>
            </a:r>
            <a:endParaRPr lang="en-US" sz="1150" dirty="0"/>
          </a:p>
        </p:txBody>
      </p:sp>
      <p:sp>
        <p:nvSpPr>
          <p:cNvPr id="23" name="Text 21"/>
          <p:cNvSpPr/>
          <p:nvPr/>
        </p:nvSpPr>
        <p:spPr>
          <a:xfrm>
            <a:off x="2423160" y="3867912"/>
            <a:ext cx="3520440" cy="493776"/>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michelle.wilson0@horizonvale.edu.au</a:t>
            </a:r>
            <a:endParaRPr lang="en-US" sz="1150" dirty="0"/>
          </a:p>
        </p:txBody>
      </p:sp>
      <p:sp>
        <p:nvSpPr>
          <p:cNvPr id="24" name="Text 22"/>
          <p:cNvSpPr/>
          <p:nvPr/>
        </p:nvSpPr>
        <p:spPr>
          <a:xfrm>
            <a:off x="6035040" y="3867912"/>
            <a:ext cx="1691640" cy="493776"/>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parent-hva-1-01</a:t>
            </a:r>
            <a:endParaRPr lang="en-US" sz="1150" dirty="0"/>
          </a:p>
        </p:txBody>
      </p:sp>
      <p:sp>
        <p:nvSpPr>
          <p:cNvPr id="25" name="Text 23"/>
          <p:cNvSpPr/>
          <p:nvPr/>
        </p:nvSpPr>
        <p:spPr>
          <a:xfrm>
            <a:off x="7818120" y="3867912"/>
            <a:ext cx="3794760" cy="493776"/>
          </a:xfrm>
          <a:prstGeom prst="rect">
            <a:avLst/>
          </a:prstGeom>
          <a:noFill/>
          <a:ln/>
        </p:spPr>
        <p:txBody>
          <a:bodyPr wrap="square" lIns="0" tIns="0" rIns="0" bIns="0" rtlCol="0" anchor="ctr"/>
          <a:lstStyle/>
          <a:p>
            <a:pPr indent="0" marL="0">
              <a:buNone/>
            </a:pPr>
            <a:r>
              <a:rPr lang="en-US" sz="1100" dirty="0">
                <a:solidFill>
                  <a:srgbClr val="BFD9D3"/>
                </a:solidFill>
                <a:latin typeface="Calibri" pitchFamily="34" charset="0"/>
                <a:ea typeface="Calibri" pitchFamily="34" charset="-122"/>
                <a:cs typeface="Calibri" pitchFamily="34" charset="-120"/>
              </a:rPr>
              <a:t>Aaliyah's verified guardian — child dashboard</a:t>
            </a:r>
            <a:endParaRPr lang="en-US" sz="1100" dirty="0"/>
          </a:p>
        </p:txBody>
      </p:sp>
      <p:sp>
        <p:nvSpPr>
          <p:cNvPr id="26" name="Shape 24"/>
          <p:cNvSpPr/>
          <p:nvPr/>
        </p:nvSpPr>
        <p:spPr>
          <a:xfrm>
            <a:off x="411480" y="4407408"/>
            <a:ext cx="11365992" cy="512064"/>
          </a:xfrm>
          <a:prstGeom prst="roundRect">
            <a:avLst>
              <a:gd name="adj" fmla="val 8929"/>
            </a:avLst>
          </a:prstGeom>
          <a:solidFill>
            <a:srgbClr val="1A5F55"/>
          </a:solidFill>
          <a:ln/>
        </p:spPr>
      </p:sp>
      <p:sp>
        <p:nvSpPr>
          <p:cNvPr id="27" name="Text 25"/>
          <p:cNvSpPr/>
          <p:nvPr/>
        </p:nvSpPr>
        <p:spPr>
          <a:xfrm>
            <a:off x="548640" y="4434840"/>
            <a:ext cx="1783080" cy="493776"/>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Principal</a:t>
            </a:r>
            <a:endParaRPr lang="en-US" sz="1150" dirty="0"/>
          </a:p>
        </p:txBody>
      </p:sp>
      <p:sp>
        <p:nvSpPr>
          <p:cNvPr id="28" name="Text 26"/>
          <p:cNvSpPr/>
          <p:nvPr/>
        </p:nvSpPr>
        <p:spPr>
          <a:xfrm>
            <a:off x="2423160" y="4434840"/>
            <a:ext cx="3520440" cy="493776"/>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marcus.meridian@meridianheights.edu.au</a:t>
            </a:r>
            <a:endParaRPr lang="en-US" sz="1150" dirty="0"/>
          </a:p>
        </p:txBody>
      </p:sp>
      <p:sp>
        <p:nvSpPr>
          <p:cNvPr id="29" name="Text 27"/>
          <p:cNvSpPr/>
          <p:nvPr/>
        </p:nvSpPr>
        <p:spPr>
          <a:xfrm>
            <a:off x="6035040" y="4434840"/>
            <a:ext cx="1691640" cy="493776"/>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principal-mhc-1</a:t>
            </a:r>
            <a:endParaRPr lang="en-US" sz="1150" dirty="0"/>
          </a:p>
        </p:txBody>
      </p:sp>
      <p:sp>
        <p:nvSpPr>
          <p:cNvPr id="30" name="Text 28"/>
          <p:cNvSpPr/>
          <p:nvPr/>
        </p:nvSpPr>
        <p:spPr>
          <a:xfrm>
            <a:off x="7818120" y="4434840"/>
            <a:ext cx="3794760" cy="493776"/>
          </a:xfrm>
          <a:prstGeom prst="rect">
            <a:avLst/>
          </a:prstGeom>
          <a:noFill/>
          <a:ln/>
        </p:spPr>
        <p:txBody>
          <a:bodyPr wrap="square" lIns="0" tIns="0" rIns="0" bIns="0" rtlCol="0" anchor="ctr"/>
          <a:lstStyle/>
          <a:p>
            <a:pPr indent="0" marL="0">
              <a:buNone/>
            </a:pPr>
            <a:r>
              <a:rPr lang="en-US" sz="1100" dirty="0">
                <a:solidFill>
                  <a:srgbClr val="BFD9D3"/>
                </a:solidFill>
                <a:latin typeface="Calibri" pitchFamily="34" charset="0"/>
                <a:ea typeface="Calibri" pitchFamily="34" charset="-122"/>
                <a:cs typeface="Calibri" pitchFamily="34" charset="-120"/>
              </a:rPr>
              <a:t>Meridian Heights' dashboards — also proves isolation</a:t>
            </a:r>
            <a:endParaRPr lang="en-US" sz="1100" dirty="0"/>
          </a:p>
        </p:txBody>
      </p:sp>
      <p:sp>
        <p:nvSpPr>
          <p:cNvPr id="31" name="Text 29"/>
          <p:cNvSpPr/>
          <p:nvPr/>
        </p:nvSpPr>
        <p:spPr>
          <a:xfrm>
            <a:off x="548640" y="5001768"/>
            <a:ext cx="1783080" cy="493776"/>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Admin</a:t>
            </a:r>
            <a:endParaRPr lang="en-US" sz="1150" dirty="0"/>
          </a:p>
        </p:txBody>
      </p:sp>
      <p:sp>
        <p:nvSpPr>
          <p:cNvPr id="32" name="Text 30"/>
          <p:cNvSpPr/>
          <p:nvPr/>
        </p:nvSpPr>
        <p:spPr>
          <a:xfrm>
            <a:off x="2423160" y="5001768"/>
            <a:ext cx="3520440" cy="493776"/>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ada.admin@horizonvale.edu.au</a:t>
            </a:r>
            <a:endParaRPr lang="en-US" sz="1150" dirty="0"/>
          </a:p>
        </p:txBody>
      </p:sp>
      <p:sp>
        <p:nvSpPr>
          <p:cNvPr id="33" name="Text 31"/>
          <p:cNvSpPr/>
          <p:nvPr/>
        </p:nvSpPr>
        <p:spPr>
          <a:xfrm>
            <a:off x="6035040" y="5001768"/>
            <a:ext cx="1691640" cy="493776"/>
          </a:xfrm>
          <a:prstGeom prst="rect">
            <a:avLst/>
          </a:prstGeom>
          <a:noFill/>
          <a:ln/>
        </p:spPr>
        <p:txBody>
          <a:bodyPr wrap="square" lIns="0" tIns="0" rIns="0" bIns="0" rtlCol="0" anchor="ctr"/>
          <a:lstStyle/>
          <a:p>
            <a:pPr indent="0" marL="0">
              <a:buNone/>
            </a:pPr>
            <a:r>
              <a:rPr lang="en-US" sz="1150" dirty="0">
                <a:solidFill>
                  <a:srgbClr val="FFFFFF"/>
                </a:solidFill>
                <a:latin typeface="Courier New" pitchFamily="34" charset="0"/>
                <a:ea typeface="Courier New" pitchFamily="34" charset="-122"/>
                <a:cs typeface="Courier New" pitchFamily="34" charset="-120"/>
              </a:rPr>
              <a:t>admin-hva-1</a:t>
            </a:r>
            <a:endParaRPr lang="en-US" sz="1150" dirty="0"/>
          </a:p>
        </p:txBody>
      </p:sp>
      <p:sp>
        <p:nvSpPr>
          <p:cNvPr id="34" name="Text 32"/>
          <p:cNvSpPr/>
          <p:nvPr/>
        </p:nvSpPr>
        <p:spPr>
          <a:xfrm>
            <a:off x="7818120" y="5001768"/>
            <a:ext cx="3794760" cy="493776"/>
          </a:xfrm>
          <a:prstGeom prst="rect">
            <a:avLst/>
          </a:prstGeom>
          <a:noFill/>
          <a:ln/>
        </p:spPr>
        <p:txBody>
          <a:bodyPr wrap="square" lIns="0" tIns="0" rIns="0" bIns="0" rtlCol="0" anchor="ctr"/>
          <a:lstStyle/>
          <a:p>
            <a:pPr indent="0" marL="0">
              <a:buNone/>
            </a:pPr>
            <a:r>
              <a:rPr lang="en-US" sz="1100" dirty="0">
                <a:solidFill>
                  <a:srgbClr val="BFD9D3"/>
                </a:solidFill>
                <a:latin typeface="Calibri" pitchFamily="34" charset="0"/>
                <a:ea typeface="Calibri" pitchFamily="34" charset="-122"/>
                <a:cs typeface="Calibri" pitchFamily="34" charset="-120"/>
              </a:rPr>
              <a:t>People, classes, imports, audit viewer</a:t>
            </a:r>
            <a:endParaRPr lang="en-US" sz="1100" dirty="0"/>
          </a:p>
        </p:txBody>
      </p:sp>
      <p:sp>
        <p:nvSpPr>
          <p:cNvPr id="35" name="Shape 33"/>
          <p:cNvSpPr/>
          <p:nvPr/>
        </p:nvSpPr>
        <p:spPr>
          <a:xfrm>
            <a:off x="548640" y="5715000"/>
            <a:ext cx="11091672" cy="777240"/>
          </a:xfrm>
          <a:prstGeom prst="roundRect">
            <a:avLst>
              <a:gd name="adj" fmla="val 10588"/>
            </a:avLst>
          </a:prstGeom>
          <a:solidFill>
            <a:srgbClr val="DCEEEA"/>
          </a:solidFill>
          <a:ln/>
        </p:spPr>
      </p:sp>
      <p:sp>
        <p:nvSpPr>
          <p:cNvPr id="36" name="Text 34"/>
          <p:cNvSpPr/>
          <p:nvPr/>
        </p:nvSpPr>
        <p:spPr>
          <a:xfrm>
            <a:off x="868680" y="5715000"/>
            <a:ext cx="10451592" cy="777240"/>
          </a:xfrm>
          <a:prstGeom prst="rect">
            <a:avLst/>
          </a:prstGeom>
          <a:noFill/>
          <a:ln/>
        </p:spPr>
        <p:txBody>
          <a:bodyPr wrap="square" lIns="0" tIns="0" rIns="0" bIns="0" rtlCol="0" anchor="ctr"/>
          <a:lstStyle/>
          <a:p>
            <a:pPr indent="0" marL="0">
              <a:buNone/>
            </a:pPr>
            <a:r>
              <a:rPr lang="en-US" sz="1300" b="1" dirty="0">
                <a:solidFill>
                  <a:srgbClr val="1C2321"/>
                </a:solidFill>
                <a:latin typeface="Calibri" pitchFamily="34" charset="0"/>
                <a:ea typeface="Calibri" pitchFamily="34" charset="-122"/>
                <a:cs typeface="Calibri" pitchFamily="34" charset="-120"/>
              </a:rPr>
              <a:t>Bonus isolation proof:  </a:t>
            </a:r>
            <a:pPr indent="0" marL="0">
              <a:buNone/>
            </a:pPr>
            <a:r>
              <a:rPr lang="en-US" sz="1300" dirty="0">
                <a:solidFill>
                  <a:srgbClr val="1C2321"/>
                </a:solidFill>
                <a:latin typeface="Calibri" pitchFamily="34" charset="0"/>
                <a:ea typeface="Calibri" pitchFamily="34" charset="-122"/>
                <a:cs typeface="Calibri" pitchFamily="34" charset="-120"/>
              </a:rPr>
              <a:t>wei.chen@meridianheights.edu.au / teacher-mhc-1 — a second school that sees none of Horizonvale's data.</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5"/>
        </a:solidFill>
      </p:bgPr>
    </p:bg>
    <p:spTree>
      <p:nvGrpSpPr>
        <p:cNvPr id="1" name=""/>
        <p:cNvGrpSpPr/>
        <p:nvPr/>
      </p:nvGrpSpPr>
      <p:grpSpPr>
        <a:xfrm>
          <a:off x="0" y="0"/>
          <a:ext cx="0" cy="0"/>
          <a:chOff x="0" y="0"/>
          <a:chExt cx="0" cy="0"/>
        </a:xfrm>
      </p:grpSpPr>
      <p:sp>
        <p:nvSpPr>
          <p:cNvPr id="2" name="Text 0"/>
          <p:cNvSpPr/>
          <p:nvPr/>
        </p:nvSpPr>
        <p:spPr>
          <a:xfrm>
            <a:off x="548640" y="384048"/>
            <a:ext cx="11091672" cy="274320"/>
          </a:xfrm>
          <a:prstGeom prst="rect">
            <a:avLst/>
          </a:prstGeom>
          <a:noFill/>
          <a:ln/>
        </p:spPr>
        <p:txBody>
          <a:bodyPr wrap="square" lIns="0" tIns="0" rIns="0" bIns="0" rtlCol="0" anchor="ctr"/>
          <a:lstStyle/>
          <a:p>
            <a:pPr indent="0" marL="0">
              <a:buNone/>
            </a:pPr>
            <a:r>
              <a:rPr lang="en-US" sz="1200" b="1" spc="200" kern="0" dirty="0">
                <a:solidFill>
                  <a:srgbClr val="1F6F63"/>
                </a:solidFill>
                <a:latin typeface="Calibri" pitchFamily="34" charset="0"/>
                <a:ea typeface="Calibri" pitchFamily="34" charset="-122"/>
                <a:cs typeface="Calibri" pitchFamily="34" charset="-120"/>
              </a:rPr>
              <a:t>RUNNING THE DEMO</a:t>
            </a:r>
            <a:endParaRPr lang="en-US" sz="1200" dirty="0"/>
          </a:p>
        </p:txBody>
      </p:sp>
      <p:sp>
        <p:nvSpPr>
          <p:cNvPr id="3" name="Text 1"/>
          <p:cNvSpPr/>
          <p:nvPr/>
        </p:nvSpPr>
        <p:spPr>
          <a:xfrm>
            <a:off x="548640" y="621792"/>
            <a:ext cx="11091672" cy="685800"/>
          </a:xfrm>
          <a:prstGeom prst="rect">
            <a:avLst/>
          </a:prstGeom>
          <a:noFill/>
          <a:ln/>
        </p:spPr>
        <p:txBody>
          <a:bodyPr wrap="square" lIns="0" tIns="0" rIns="0" bIns="0" rtlCol="0" anchor="ctr"/>
          <a:lstStyle/>
          <a:p>
            <a:pPr indent="0" marL="0">
              <a:buNone/>
            </a:pPr>
            <a:r>
              <a:rPr lang="en-US" sz="3300" b="1" dirty="0">
                <a:solidFill>
                  <a:srgbClr val="1C2321"/>
                </a:solidFill>
                <a:latin typeface="Cambria" pitchFamily="34" charset="0"/>
                <a:ea typeface="Cambria" pitchFamily="34" charset="-122"/>
                <a:cs typeface="Cambria" pitchFamily="34" charset="-120"/>
              </a:rPr>
              <a:t>A 20-minute flow that tells the whole story</a:t>
            </a:r>
            <a:endParaRPr lang="en-US" sz="3300" dirty="0"/>
          </a:p>
        </p:txBody>
      </p:sp>
      <p:sp>
        <p:nvSpPr>
          <p:cNvPr id="4" name="Shape 2"/>
          <p:cNvSpPr/>
          <p:nvPr/>
        </p:nvSpPr>
        <p:spPr>
          <a:xfrm>
            <a:off x="548640" y="1828800"/>
            <a:ext cx="438912" cy="438912"/>
          </a:xfrm>
          <a:prstGeom prst="ellipse">
            <a:avLst/>
          </a:prstGeom>
          <a:solidFill>
            <a:srgbClr val="1F6F63"/>
          </a:solidFill>
          <a:ln/>
        </p:spPr>
      </p:sp>
      <p:sp>
        <p:nvSpPr>
          <p:cNvPr id="5" name="Text 3"/>
          <p:cNvSpPr/>
          <p:nvPr/>
        </p:nvSpPr>
        <p:spPr>
          <a:xfrm>
            <a:off x="548640" y="18288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188720" y="1783080"/>
            <a:ext cx="2834640" cy="530352"/>
          </a:xfrm>
          <a:prstGeom prst="rect">
            <a:avLst/>
          </a:prstGeom>
          <a:noFill/>
          <a:ln/>
        </p:spPr>
        <p:txBody>
          <a:bodyPr wrap="square" lIns="0" tIns="0" rIns="0" bIns="0" rtlCol="0" anchor="ctr"/>
          <a:lstStyle/>
          <a:p>
            <a:pPr indent="0" marL="0">
              <a:buNone/>
            </a:pPr>
            <a:r>
              <a:rPr lang="en-US" sz="1450" b="1" dirty="0">
                <a:solidFill>
                  <a:srgbClr val="1C2321"/>
                </a:solidFill>
                <a:latin typeface="Calibri" pitchFamily="34" charset="0"/>
                <a:ea typeface="Calibri" pitchFamily="34" charset="-122"/>
                <a:cs typeface="Calibri" pitchFamily="34" charset="-120"/>
              </a:rPr>
              <a:t>Tara · Content Studio</a:t>
            </a:r>
            <a:endParaRPr lang="en-US" sz="1450" dirty="0"/>
          </a:p>
        </p:txBody>
      </p:sp>
      <p:sp>
        <p:nvSpPr>
          <p:cNvPr id="7" name="Text 5"/>
          <p:cNvSpPr/>
          <p:nvPr/>
        </p:nvSpPr>
        <p:spPr>
          <a:xfrm>
            <a:off x="4114800" y="1783080"/>
            <a:ext cx="6400800" cy="530352"/>
          </a:xfrm>
          <a:prstGeom prst="rect">
            <a:avLst/>
          </a:prstGeom>
          <a:noFill/>
          <a:ln/>
        </p:spPr>
        <p:txBody>
          <a:bodyPr wrap="square" lIns="0" tIns="0" rIns="0" bIns="0" rtlCol="0" anchor="ctr"/>
          <a:lstStyle/>
          <a:p>
            <a:pPr indent="0" marL="0">
              <a:buNone/>
            </a:pPr>
            <a:r>
              <a:rPr lang="en-US" sz="1250" dirty="0">
                <a:solidFill>
                  <a:srgbClr val="5B6663"/>
                </a:solidFill>
                <a:latin typeface="Calibri" pitchFamily="34" charset="0"/>
                <a:ea typeface="Calibri" pitchFamily="34" charset="-122"/>
                <a:cs typeface="Calibri" pitchFamily="34" charset="-120"/>
              </a:rPr>
              <a:t>Governed pipeline, the NESA syllabus filed under Technology, signed-off curricula</a:t>
            </a:r>
            <a:endParaRPr lang="en-US" sz="1250" dirty="0"/>
          </a:p>
        </p:txBody>
      </p:sp>
      <p:sp>
        <p:nvSpPr>
          <p:cNvPr id="8" name="Text 6"/>
          <p:cNvSpPr/>
          <p:nvPr/>
        </p:nvSpPr>
        <p:spPr>
          <a:xfrm>
            <a:off x="10698480" y="1783080"/>
            <a:ext cx="914400" cy="530352"/>
          </a:xfrm>
          <a:prstGeom prst="rect">
            <a:avLst/>
          </a:prstGeom>
          <a:noFill/>
          <a:ln/>
        </p:spPr>
        <p:txBody>
          <a:bodyPr wrap="square" lIns="0" tIns="0" rIns="0" bIns="0" rtlCol="0" anchor="ctr"/>
          <a:lstStyle/>
          <a:p>
            <a:pPr algn="r" indent="0" marL="0">
              <a:buNone/>
            </a:pPr>
            <a:r>
              <a:rPr lang="en-US" sz="1250" b="1" dirty="0">
                <a:solidFill>
                  <a:srgbClr val="1F6F63"/>
                </a:solidFill>
                <a:latin typeface="Calibri" pitchFamily="34" charset="0"/>
                <a:ea typeface="Calibri" pitchFamily="34" charset="-122"/>
                <a:cs typeface="Calibri" pitchFamily="34" charset="-120"/>
              </a:rPr>
              <a:t>3 min</a:t>
            </a:r>
            <a:endParaRPr lang="en-US" sz="1250" dirty="0"/>
          </a:p>
        </p:txBody>
      </p:sp>
      <p:sp>
        <p:nvSpPr>
          <p:cNvPr id="9" name="Shape 7"/>
          <p:cNvSpPr/>
          <p:nvPr/>
        </p:nvSpPr>
        <p:spPr>
          <a:xfrm>
            <a:off x="548640" y="2423160"/>
            <a:ext cx="438912" cy="438912"/>
          </a:xfrm>
          <a:prstGeom prst="ellipse">
            <a:avLst/>
          </a:prstGeom>
          <a:solidFill>
            <a:srgbClr val="1F6F63"/>
          </a:solidFill>
          <a:ln/>
        </p:spPr>
      </p:sp>
      <p:sp>
        <p:nvSpPr>
          <p:cNvPr id="10" name="Text 8"/>
          <p:cNvSpPr/>
          <p:nvPr/>
        </p:nvSpPr>
        <p:spPr>
          <a:xfrm>
            <a:off x="548640" y="2423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88720" y="2377440"/>
            <a:ext cx="2834640" cy="530352"/>
          </a:xfrm>
          <a:prstGeom prst="rect">
            <a:avLst/>
          </a:prstGeom>
          <a:noFill/>
          <a:ln/>
        </p:spPr>
        <p:txBody>
          <a:bodyPr wrap="square" lIns="0" tIns="0" rIns="0" bIns="0" rtlCol="0" anchor="ctr"/>
          <a:lstStyle/>
          <a:p>
            <a:pPr indent="0" marL="0">
              <a:buNone/>
            </a:pPr>
            <a:r>
              <a:rPr lang="en-US" sz="1450" b="1" dirty="0">
                <a:solidFill>
                  <a:srgbClr val="1C2321"/>
                </a:solidFill>
                <a:latin typeface="Calibri" pitchFamily="34" charset="0"/>
                <a:ea typeface="Calibri" pitchFamily="34" charset="-122"/>
                <a:cs typeface="Calibri" pitchFamily="34" charset="-120"/>
              </a:rPr>
              <a:t>Tara · Assessments</a:t>
            </a:r>
            <a:endParaRPr lang="en-US" sz="1450" dirty="0"/>
          </a:p>
        </p:txBody>
      </p:sp>
      <p:sp>
        <p:nvSpPr>
          <p:cNvPr id="12" name="Text 10"/>
          <p:cNvSpPr/>
          <p:nvPr/>
        </p:nvSpPr>
        <p:spPr>
          <a:xfrm>
            <a:off x="4114800" y="2377440"/>
            <a:ext cx="6400800" cy="530352"/>
          </a:xfrm>
          <a:prstGeom prst="rect">
            <a:avLst/>
          </a:prstGeom>
          <a:noFill/>
          <a:ln/>
        </p:spPr>
        <p:txBody>
          <a:bodyPr wrap="square" lIns="0" tIns="0" rIns="0" bIns="0" rtlCol="0" anchor="ctr"/>
          <a:lstStyle/>
          <a:p>
            <a:pPr indent="0" marL="0">
              <a:buNone/>
            </a:pPr>
            <a:r>
              <a:rPr lang="en-US" sz="1250" dirty="0">
                <a:solidFill>
                  <a:srgbClr val="5B6663"/>
                </a:solidFill>
                <a:latin typeface="Calibri" pitchFamily="34" charset="0"/>
                <a:ea typeface="Calibri" pitchFamily="34" charset="-122"/>
                <a:cs typeface="Calibri" pitchFamily="34" charset="-120"/>
              </a:rPr>
              <a:t>Multi-concept generation, honest shortfall, review → publish → assign to 8A</a:t>
            </a:r>
            <a:endParaRPr lang="en-US" sz="1250" dirty="0"/>
          </a:p>
        </p:txBody>
      </p:sp>
      <p:sp>
        <p:nvSpPr>
          <p:cNvPr id="13" name="Text 11"/>
          <p:cNvSpPr/>
          <p:nvPr/>
        </p:nvSpPr>
        <p:spPr>
          <a:xfrm>
            <a:off x="10698480" y="2377440"/>
            <a:ext cx="914400" cy="530352"/>
          </a:xfrm>
          <a:prstGeom prst="rect">
            <a:avLst/>
          </a:prstGeom>
          <a:noFill/>
          <a:ln/>
        </p:spPr>
        <p:txBody>
          <a:bodyPr wrap="square" lIns="0" tIns="0" rIns="0" bIns="0" rtlCol="0" anchor="ctr"/>
          <a:lstStyle/>
          <a:p>
            <a:pPr algn="r" indent="0" marL="0">
              <a:buNone/>
            </a:pPr>
            <a:r>
              <a:rPr lang="en-US" sz="1250" b="1" dirty="0">
                <a:solidFill>
                  <a:srgbClr val="1F6F63"/>
                </a:solidFill>
                <a:latin typeface="Calibri" pitchFamily="34" charset="0"/>
                <a:ea typeface="Calibri" pitchFamily="34" charset="-122"/>
                <a:cs typeface="Calibri" pitchFamily="34" charset="-120"/>
              </a:rPr>
              <a:t>4 min</a:t>
            </a:r>
            <a:endParaRPr lang="en-US" sz="1250" dirty="0"/>
          </a:p>
        </p:txBody>
      </p:sp>
      <p:sp>
        <p:nvSpPr>
          <p:cNvPr id="14" name="Shape 12"/>
          <p:cNvSpPr/>
          <p:nvPr/>
        </p:nvSpPr>
        <p:spPr>
          <a:xfrm>
            <a:off x="548640" y="3017520"/>
            <a:ext cx="438912" cy="438912"/>
          </a:xfrm>
          <a:prstGeom prst="ellipse">
            <a:avLst/>
          </a:prstGeom>
          <a:solidFill>
            <a:srgbClr val="1F6F63"/>
          </a:solidFill>
          <a:ln/>
        </p:spPr>
      </p:sp>
      <p:sp>
        <p:nvSpPr>
          <p:cNvPr id="15" name="Text 13"/>
          <p:cNvSpPr/>
          <p:nvPr/>
        </p:nvSpPr>
        <p:spPr>
          <a:xfrm>
            <a:off x="548640" y="301752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188720" y="2971800"/>
            <a:ext cx="2834640" cy="530352"/>
          </a:xfrm>
          <a:prstGeom prst="rect">
            <a:avLst/>
          </a:prstGeom>
          <a:noFill/>
          <a:ln/>
        </p:spPr>
        <p:txBody>
          <a:bodyPr wrap="square" lIns="0" tIns="0" rIns="0" bIns="0" rtlCol="0" anchor="ctr"/>
          <a:lstStyle/>
          <a:p>
            <a:pPr indent="0" marL="0">
              <a:buNone/>
            </a:pPr>
            <a:r>
              <a:rPr lang="en-US" sz="1450" b="1" dirty="0">
                <a:solidFill>
                  <a:srgbClr val="1C2321"/>
                </a:solidFill>
                <a:latin typeface="Calibri" pitchFamily="34" charset="0"/>
                <a:ea typeface="Calibri" pitchFamily="34" charset="-122"/>
                <a:cs typeface="Calibri" pitchFamily="34" charset="-120"/>
              </a:rPr>
              <a:t>Tara · Teacher Agent</a:t>
            </a:r>
            <a:endParaRPr lang="en-US" sz="1450" dirty="0"/>
          </a:p>
        </p:txBody>
      </p:sp>
      <p:sp>
        <p:nvSpPr>
          <p:cNvPr id="17" name="Text 15"/>
          <p:cNvSpPr/>
          <p:nvPr/>
        </p:nvSpPr>
        <p:spPr>
          <a:xfrm>
            <a:off x="4114800" y="2971800"/>
            <a:ext cx="6400800" cy="530352"/>
          </a:xfrm>
          <a:prstGeom prst="rect">
            <a:avLst/>
          </a:prstGeom>
          <a:noFill/>
          <a:ln/>
        </p:spPr>
        <p:txBody>
          <a:bodyPr wrap="square" lIns="0" tIns="0" rIns="0" bIns="0" rtlCol="0" anchor="ctr"/>
          <a:lstStyle/>
          <a:p>
            <a:pPr indent="0" marL="0">
              <a:buNone/>
            </a:pPr>
            <a:r>
              <a:rPr lang="en-US" sz="1250" dirty="0">
                <a:solidFill>
                  <a:srgbClr val="5B6663"/>
                </a:solidFill>
                <a:latin typeface="Calibri" pitchFamily="34" charset="0"/>
                <a:ea typeface="Calibri" pitchFamily="34" charset="-122"/>
                <a:cs typeface="Calibri" pitchFamily="34" charset="-120"/>
              </a:rPr>
              <a:t>Cyber-security lesson plan quoting real TE4 outcome codes</a:t>
            </a:r>
            <a:endParaRPr lang="en-US" sz="1250" dirty="0"/>
          </a:p>
        </p:txBody>
      </p:sp>
      <p:sp>
        <p:nvSpPr>
          <p:cNvPr id="18" name="Text 16"/>
          <p:cNvSpPr/>
          <p:nvPr/>
        </p:nvSpPr>
        <p:spPr>
          <a:xfrm>
            <a:off x="10698480" y="2971800"/>
            <a:ext cx="914400" cy="530352"/>
          </a:xfrm>
          <a:prstGeom prst="rect">
            <a:avLst/>
          </a:prstGeom>
          <a:noFill/>
          <a:ln/>
        </p:spPr>
        <p:txBody>
          <a:bodyPr wrap="square" lIns="0" tIns="0" rIns="0" bIns="0" rtlCol="0" anchor="ctr"/>
          <a:lstStyle/>
          <a:p>
            <a:pPr algn="r" indent="0" marL="0">
              <a:buNone/>
            </a:pPr>
            <a:r>
              <a:rPr lang="en-US" sz="1250" b="1" dirty="0">
                <a:solidFill>
                  <a:srgbClr val="1F6F63"/>
                </a:solidFill>
                <a:latin typeface="Calibri" pitchFamily="34" charset="0"/>
                <a:ea typeface="Calibri" pitchFamily="34" charset="-122"/>
                <a:cs typeface="Calibri" pitchFamily="34" charset="-120"/>
              </a:rPr>
              <a:t>3 min</a:t>
            </a:r>
            <a:endParaRPr lang="en-US" sz="1250" dirty="0"/>
          </a:p>
        </p:txBody>
      </p:sp>
      <p:sp>
        <p:nvSpPr>
          <p:cNvPr id="19" name="Shape 17"/>
          <p:cNvSpPr/>
          <p:nvPr/>
        </p:nvSpPr>
        <p:spPr>
          <a:xfrm>
            <a:off x="548640" y="3611880"/>
            <a:ext cx="438912" cy="438912"/>
          </a:xfrm>
          <a:prstGeom prst="ellipse">
            <a:avLst/>
          </a:prstGeom>
          <a:solidFill>
            <a:srgbClr val="1F6F63"/>
          </a:solidFill>
          <a:ln/>
        </p:spPr>
      </p:sp>
      <p:sp>
        <p:nvSpPr>
          <p:cNvPr id="20" name="Text 18"/>
          <p:cNvSpPr/>
          <p:nvPr/>
        </p:nvSpPr>
        <p:spPr>
          <a:xfrm>
            <a:off x="548640" y="361188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9"/>
          <p:cNvSpPr/>
          <p:nvPr/>
        </p:nvSpPr>
        <p:spPr>
          <a:xfrm>
            <a:off x="1188720" y="3566160"/>
            <a:ext cx="2834640" cy="530352"/>
          </a:xfrm>
          <a:prstGeom prst="rect">
            <a:avLst/>
          </a:prstGeom>
          <a:noFill/>
          <a:ln/>
        </p:spPr>
        <p:txBody>
          <a:bodyPr wrap="square" lIns="0" tIns="0" rIns="0" bIns="0" rtlCol="0" anchor="ctr"/>
          <a:lstStyle/>
          <a:p>
            <a:pPr indent="0" marL="0">
              <a:buNone/>
            </a:pPr>
            <a:r>
              <a:rPr lang="en-US" sz="1450" b="1" dirty="0">
                <a:solidFill>
                  <a:srgbClr val="1C2321"/>
                </a:solidFill>
                <a:latin typeface="Calibri" pitchFamily="34" charset="0"/>
                <a:ea typeface="Calibri" pitchFamily="34" charset="-122"/>
                <a:cs typeface="Calibri" pitchFamily="34" charset="-120"/>
              </a:rPr>
              <a:t>Tara · Class insights</a:t>
            </a:r>
            <a:endParaRPr lang="en-US" sz="1450" dirty="0"/>
          </a:p>
        </p:txBody>
      </p:sp>
      <p:sp>
        <p:nvSpPr>
          <p:cNvPr id="22" name="Text 20"/>
          <p:cNvSpPr/>
          <p:nvPr/>
        </p:nvSpPr>
        <p:spPr>
          <a:xfrm>
            <a:off x="4114800" y="3566160"/>
            <a:ext cx="6400800" cy="530352"/>
          </a:xfrm>
          <a:prstGeom prst="rect">
            <a:avLst/>
          </a:prstGeom>
          <a:noFill/>
          <a:ln/>
        </p:spPr>
        <p:txBody>
          <a:bodyPr wrap="square" lIns="0" tIns="0" rIns="0" bIns="0" rtlCol="0" anchor="ctr"/>
          <a:lstStyle/>
          <a:p>
            <a:pPr indent="0" marL="0">
              <a:buNone/>
            </a:pPr>
            <a:r>
              <a:rPr lang="en-US" sz="1250" dirty="0">
                <a:solidFill>
                  <a:srgbClr val="5B6663"/>
                </a:solidFill>
                <a:latin typeface="Calibri" pitchFamily="34" charset="0"/>
                <a:ea typeface="Calibri" pitchFamily="34" charset="-122"/>
                <a:cs typeface="Calibri" pitchFamily="34" charset="-120"/>
              </a:rPr>
              <a:t>Heatmap on real grades, focus areas, a tailored assessment for one student</a:t>
            </a:r>
            <a:endParaRPr lang="en-US" sz="1250" dirty="0"/>
          </a:p>
        </p:txBody>
      </p:sp>
      <p:sp>
        <p:nvSpPr>
          <p:cNvPr id="23" name="Text 21"/>
          <p:cNvSpPr/>
          <p:nvPr/>
        </p:nvSpPr>
        <p:spPr>
          <a:xfrm>
            <a:off x="10698480" y="3566160"/>
            <a:ext cx="914400" cy="530352"/>
          </a:xfrm>
          <a:prstGeom prst="rect">
            <a:avLst/>
          </a:prstGeom>
          <a:noFill/>
          <a:ln/>
        </p:spPr>
        <p:txBody>
          <a:bodyPr wrap="square" lIns="0" tIns="0" rIns="0" bIns="0" rtlCol="0" anchor="ctr"/>
          <a:lstStyle/>
          <a:p>
            <a:pPr algn="r" indent="0" marL="0">
              <a:buNone/>
            </a:pPr>
            <a:r>
              <a:rPr lang="en-US" sz="1250" b="1" dirty="0">
                <a:solidFill>
                  <a:srgbClr val="1F6F63"/>
                </a:solidFill>
                <a:latin typeface="Calibri" pitchFamily="34" charset="0"/>
                <a:ea typeface="Calibri" pitchFamily="34" charset="-122"/>
                <a:cs typeface="Calibri" pitchFamily="34" charset="-120"/>
              </a:rPr>
              <a:t>3 min</a:t>
            </a:r>
            <a:endParaRPr lang="en-US" sz="1250" dirty="0"/>
          </a:p>
        </p:txBody>
      </p:sp>
      <p:sp>
        <p:nvSpPr>
          <p:cNvPr id="24" name="Shape 22"/>
          <p:cNvSpPr/>
          <p:nvPr/>
        </p:nvSpPr>
        <p:spPr>
          <a:xfrm>
            <a:off x="548640" y="4206240"/>
            <a:ext cx="438912" cy="438912"/>
          </a:xfrm>
          <a:prstGeom prst="ellipse">
            <a:avLst/>
          </a:prstGeom>
          <a:solidFill>
            <a:srgbClr val="1F6F63"/>
          </a:solidFill>
          <a:ln/>
        </p:spPr>
      </p:sp>
      <p:sp>
        <p:nvSpPr>
          <p:cNvPr id="25" name="Text 23"/>
          <p:cNvSpPr/>
          <p:nvPr/>
        </p:nvSpPr>
        <p:spPr>
          <a:xfrm>
            <a:off x="548640" y="420624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6" name="Text 24"/>
          <p:cNvSpPr/>
          <p:nvPr/>
        </p:nvSpPr>
        <p:spPr>
          <a:xfrm>
            <a:off x="1188720" y="4160520"/>
            <a:ext cx="2834640" cy="530352"/>
          </a:xfrm>
          <a:prstGeom prst="rect">
            <a:avLst/>
          </a:prstGeom>
          <a:noFill/>
          <a:ln/>
        </p:spPr>
        <p:txBody>
          <a:bodyPr wrap="square" lIns="0" tIns="0" rIns="0" bIns="0" rtlCol="0" anchor="ctr"/>
          <a:lstStyle/>
          <a:p>
            <a:pPr indent="0" marL="0">
              <a:buNone/>
            </a:pPr>
            <a:r>
              <a:rPr lang="en-US" sz="1450" b="1" dirty="0">
                <a:solidFill>
                  <a:srgbClr val="1C2321"/>
                </a:solidFill>
                <a:latin typeface="Calibri" pitchFamily="34" charset="0"/>
                <a:ea typeface="Calibri" pitchFamily="34" charset="-122"/>
                <a:cs typeface="Calibri" pitchFamily="34" charset="-120"/>
              </a:rPr>
              <a:t>Tom · Shared library</a:t>
            </a:r>
            <a:endParaRPr lang="en-US" sz="1450" dirty="0"/>
          </a:p>
        </p:txBody>
      </p:sp>
      <p:sp>
        <p:nvSpPr>
          <p:cNvPr id="27" name="Text 25"/>
          <p:cNvSpPr/>
          <p:nvPr/>
        </p:nvSpPr>
        <p:spPr>
          <a:xfrm>
            <a:off x="4114800" y="4160520"/>
            <a:ext cx="6400800" cy="530352"/>
          </a:xfrm>
          <a:prstGeom prst="rect">
            <a:avLst/>
          </a:prstGeom>
          <a:noFill/>
          <a:ln/>
        </p:spPr>
        <p:txBody>
          <a:bodyPr wrap="square" lIns="0" tIns="0" rIns="0" bIns="0" rtlCol="0" anchor="ctr"/>
          <a:lstStyle/>
          <a:p>
            <a:pPr indent="0" marL="0">
              <a:buNone/>
            </a:pPr>
            <a:r>
              <a:rPr lang="en-US" sz="1250" dirty="0">
                <a:solidFill>
                  <a:srgbClr val="5B6663"/>
                </a:solidFill>
                <a:latin typeface="Calibri" pitchFamily="34" charset="0"/>
                <a:ea typeface="Calibri" pitchFamily="34" charset="-122"/>
                <a:cs typeface="Calibri" pitchFamily="34" charset="-120"/>
              </a:rPr>
              <a:t>“Shared with you”, reuse, and the NOT_OWNER wall</a:t>
            </a:r>
            <a:endParaRPr lang="en-US" sz="1250" dirty="0"/>
          </a:p>
        </p:txBody>
      </p:sp>
      <p:sp>
        <p:nvSpPr>
          <p:cNvPr id="28" name="Text 26"/>
          <p:cNvSpPr/>
          <p:nvPr/>
        </p:nvSpPr>
        <p:spPr>
          <a:xfrm>
            <a:off x="10698480" y="4160520"/>
            <a:ext cx="914400" cy="530352"/>
          </a:xfrm>
          <a:prstGeom prst="rect">
            <a:avLst/>
          </a:prstGeom>
          <a:noFill/>
          <a:ln/>
        </p:spPr>
        <p:txBody>
          <a:bodyPr wrap="square" lIns="0" tIns="0" rIns="0" bIns="0" rtlCol="0" anchor="ctr"/>
          <a:lstStyle/>
          <a:p>
            <a:pPr algn="r" indent="0" marL="0">
              <a:buNone/>
            </a:pPr>
            <a:r>
              <a:rPr lang="en-US" sz="1250" b="1" dirty="0">
                <a:solidFill>
                  <a:srgbClr val="1F6F63"/>
                </a:solidFill>
                <a:latin typeface="Calibri" pitchFamily="34" charset="0"/>
                <a:ea typeface="Calibri" pitchFamily="34" charset="-122"/>
                <a:cs typeface="Calibri" pitchFamily="34" charset="-120"/>
              </a:rPr>
              <a:t>2 min</a:t>
            </a:r>
            <a:endParaRPr lang="en-US" sz="1250" dirty="0"/>
          </a:p>
        </p:txBody>
      </p:sp>
      <p:sp>
        <p:nvSpPr>
          <p:cNvPr id="29" name="Shape 27"/>
          <p:cNvSpPr/>
          <p:nvPr/>
        </p:nvSpPr>
        <p:spPr>
          <a:xfrm>
            <a:off x="548640" y="4800600"/>
            <a:ext cx="438912" cy="438912"/>
          </a:xfrm>
          <a:prstGeom prst="ellipse">
            <a:avLst/>
          </a:prstGeom>
          <a:solidFill>
            <a:srgbClr val="1F6F63"/>
          </a:solidFill>
          <a:ln/>
        </p:spPr>
      </p:sp>
      <p:sp>
        <p:nvSpPr>
          <p:cNvPr id="30" name="Text 28"/>
          <p:cNvSpPr/>
          <p:nvPr/>
        </p:nvSpPr>
        <p:spPr>
          <a:xfrm>
            <a:off x="548640" y="4800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1" name="Text 29"/>
          <p:cNvSpPr/>
          <p:nvPr/>
        </p:nvSpPr>
        <p:spPr>
          <a:xfrm>
            <a:off x="1188720" y="4754880"/>
            <a:ext cx="2834640" cy="530352"/>
          </a:xfrm>
          <a:prstGeom prst="rect">
            <a:avLst/>
          </a:prstGeom>
          <a:noFill/>
          <a:ln/>
        </p:spPr>
        <p:txBody>
          <a:bodyPr wrap="square" lIns="0" tIns="0" rIns="0" bIns="0" rtlCol="0" anchor="ctr"/>
          <a:lstStyle/>
          <a:p>
            <a:pPr indent="0" marL="0">
              <a:buNone/>
            </a:pPr>
            <a:r>
              <a:rPr lang="en-US" sz="1450" b="1" dirty="0">
                <a:solidFill>
                  <a:srgbClr val="1C2321"/>
                </a:solidFill>
                <a:latin typeface="Calibri" pitchFamily="34" charset="0"/>
                <a:ea typeface="Calibri" pitchFamily="34" charset="-122"/>
                <a:cs typeface="Calibri" pitchFamily="34" charset="-120"/>
              </a:rPr>
              <a:t>Aaliyah &amp; Michelle</a:t>
            </a:r>
            <a:endParaRPr lang="en-US" sz="1450" dirty="0"/>
          </a:p>
        </p:txBody>
      </p:sp>
      <p:sp>
        <p:nvSpPr>
          <p:cNvPr id="32" name="Text 30"/>
          <p:cNvSpPr/>
          <p:nvPr/>
        </p:nvSpPr>
        <p:spPr>
          <a:xfrm>
            <a:off x="4114800" y="4754880"/>
            <a:ext cx="6400800" cy="530352"/>
          </a:xfrm>
          <a:prstGeom prst="rect">
            <a:avLst/>
          </a:prstGeom>
          <a:noFill/>
          <a:ln/>
        </p:spPr>
        <p:txBody>
          <a:bodyPr wrap="square" lIns="0" tIns="0" rIns="0" bIns="0" rtlCol="0" anchor="ctr"/>
          <a:lstStyle/>
          <a:p>
            <a:pPr indent="0" marL="0">
              <a:buNone/>
            </a:pPr>
            <a:r>
              <a:rPr lang="en-US" sz="1250" dirty="0">
                <a:solidFill>
                  <a:srgbClr val="5B6663"/>
                </a:solidFill>
                <a:latin typeface="Calibri" pitchFamily="34" charset="0"/>
                <a:ea typeface="Calibri" pitchFamily="34" charset="-122"/>
                <a:cs typeface="Calibri" pitchFamily="34" charset="-120"/>
              </a:rPr>
              <a:t>Student workspace and ask-for-help; the parent's plain-language view</a:t>
            </a:r>
            <a:endParaRPr lang="en-US" sz="1250" dirty="0"/>
          </a:p>
        </p:txBody>
      </p:sp>
      <p:sp>
        <p:nvSpPr>
          <p:cNvPr id="33" name="Text 31"/>
          <p:cNvSpPr/>
          <p:nvPr/>
        </p:nvSpPr>
        <p:spPr>
          <a:xfrm>
            <a:off x="10698480" y="4754880"/>
            <a:ext cx="914400" cy="530352"/>
          </a:xfrm>
          <a:prstGeom prst="rect">
            <a:avLst/>
          </a:prstGeom>
          <a:noFill/>
          <a:ln/>
        </p:spPr>
        <p:txBody>
          <a:bodyPr wrap="square" lIns="0" tIns="0" rIns="0" bIns="0" rtlCol="0" anchor="ctr"/>
          <a:lstStyle/>
          <a:p>
            <a:pPr algn="r" indent="0" marL="0">
              <a:buNone/>
            </a:pPr>
            <a:r>
              <a:rPr lang="en-US" sz="1250" b="1" dirty="0">
                <a:solidFill>
                  <a:srgbClr val="1F6F63"/>
                </a:solidFill>
                <a:latin typeface="Calibri" pitchFamily="34" charset="0"/>
                <a:ea typeface="Calibri" pitchFamily="34" charset="-122"/>
                <a:cs typeface="Calibri" pitchFamily="34" charset="-120"/>
              </a:rPr>
              <a:t>3 min</a:t>
            </a:r>
            <a:endParaRPr lang="en-US" sz="1250" dirty="0"/>
          </a:p>
        </p:txBody>
      </p:sp>
      <p:sp>
        <p:nvSpPr>
          <p:cNvPr id="34" name="Shape 32"/>
          <p:cNvSpPr/>
          <p:nvPr/>
        </p:nvSpPr>
        <p:spPr>
          <a:xfrm>
            <a:off x="548640" y="5394960"/>
            <a:ext cx="438912" cy="438912"/>
          </a:xfrm>
          <a:prstGeom prst="ellipse">
            <a:avLst/>
          </a:prstGeom>
          <a:solidFill>
            <a:srgbClr val="1F6F63"/>
          </a:solidFill>
          <a:ln/>
        </p:spPr>
      </p:sp>
      <p:sp>
        <p:nvSpPr>
          <p:cNvPr id="35" name="Text 33"/>
          <p:cNvSpPr/>
          <p:nvPr/>
        </p:nvSpPr>
        <p:spPr>
          <a:xfrm>
            <a:off x="548640" y="53949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6" name="Text 34"/>
          <p:cNvSpPr/>
          <p:nvPr/>
        </p:nvSpPr>
        <p:spPr>
          <a:xfrm>
            <a:off x="1188720" y="5349240"/>
            <a:ext cx="2834640" cy="530352"/>
          </a:xfrm>
          <a:prstGeom prst="rect">
            <a:avLst/>
          </a:prstGeom>
          <a:noFill/>
          <a:ln/>
        </p:spPr>
        <p:txBody>
          <a:bodyPr wrap="square" lIns="0" tIns="0" rIns="0" bIns="0" rtlCol="0" anchor="ctr"/>
          <a:lstStyle/>
          <a:p>
            <a:pPr indent="0" marL="0">
              <a:buNone/>
            </a:pPr>
            <a:r>
              <a:rPr lang="en-US" sz="1450" b="1" dirty="0">
                <a:solidFill>
                  <a:srgbClr val="1C2321"/>
                </a:solidFill>
                <a:latin typeface="Calibri" pitchFamily="34" charset="0"/>
                <a:ea typeface="Calibri" pitchFamily="34" charset="-122"/>
                <a:cs typeface="Calibri" pitchFamily="34" charset="-120"/>
              </a:rPr>
              <a:t>Marcus &amp; Ada</a:t>
            </a:r>
            <a:endParaRPr lang="en-US" sz="1450" dirty="0"/>
          </a:p>
        </p:txBody>
      </p:sp>
      <p:sp>
        <p:nvSpPr>
          <p:cNvPr id="37" name="Text 35"/>
          <p:cNvSpPr/>
          <p:nvPr/>
        </p:nvSpPr>
        <p:spPr>
          <a:xfrm>
            <a:off x="4114800" y="5349240"/>
            <a:ext cx="6400800" cy="530352"/>
          </a:xfrm>
          <a:prstGeom prst="rect">
            <a:avLst/>
          </a:prstGeom>
          <a:noFill/>
          <a:ln/>
        </p:spPr>
        <p:txBody>
          <a:bodyPr wrap="square" lIns="0" tIns="0" rIns="0" bIns="0" rtlCol="0" anchor="ctr"/>
          <a:lstStyle/>
          <a:p>
            <a:pPr indent="0" marL="0">
              <a:buNone/>
            </a:pPr>
            <a:r>
              <a:rPr lang="en-US" sz="1250" dirty="0">
                <a:solidFill>
                  <a:srgbClr val="5B6663"/>
                </a:solidFill>
                <a:latin typeface="Calibri" pitchFamily="34" charset="0"/>
                <a:ea typeface="Calibri" pitchFamily="34" charset="-122"/>
                <a:cs typeface="Calibri" pitchFamily="34" charset="-120"/>
              </a:rPr>
              <a:t>Meridian Heights' principal dashboard — isolation proof — then Ada's audit trail</a:t>
            </a:r>
            <a:endParaRPr lang="en-US" sz="1250" dirty="0"/>
          </a:p>
        </p:txBody>
      </p:sp>
      <p:sp>
        <p:nvSpPr>
          <p:cNvPr id="38" name="Text 36"/>
          <p:cNvSpPr/>
          <p:nvPr/>
        </p:nvSpPr>
        <p:spPr>
          <a:xfrm>
            <a:off x="10698480" y="5349240"/>
            <a:ext cx="914400" cy="530352"/>
          </a:xfrm>
          <a:prstGeom prst="rect">
            <a:avLst/>
          </a:prstGeom>
          <a:noFill/>
          <a:ln/>
        </p:spPr>
        <p:txBody>
          <a:bodyPr wrap="square" lIns="0" tIns="0" rIns="0" bIns="0" rtlCol="0" anchor="ctr"/>
          <a:lstStyle/>
          <a:p>
            <a:pPr algn="r" indent="0" marL="0">
              <a:buNone/>
            </a:pPr>
            <a:r>
              <a:rPr lang="en-US" sz="1250" b="1" dirty="0">
                <a:solidFill>
                  <a:srgbClr val="1F6F63"/>
                </a:solidFill>
                <a:latin typeface="Calibri" pitchFamily="34" charset="0"/>
                <a:ea typeface="Calibri" pitchFamily="34" charset="-122"/>
                <a:cs typeface="Calibri" pitchFamily="34" charset="-120"/>
              </a:rPr>
              <a:t>2 min</a:t>
            </a:r>
            <a:endParaRPr lang="en-US" sz="1250" dirty="0"/>
          </a:p>
        </p:txBody>
      </p:sp>
      <p:sp>
        <p:nvSpPr>
          <p:cNvPr id="39" name="Text 37"/>
          <p:cNvSpPr/>
          <p:nvPr/>
        </p:nvSpPr>
        <p:spPr>
          <a:xfrm>
            <a:off x="548640" y="6172200"/>
            <a:ext cx="7315200" cy="320040"/>
          </a:xfrm>
          <a:prstGeom prst="rect">
            <a:avLst/>
          </a:prstGeom>
          <a:noFill/>
          <a:ln/>
        </p:spPr>
        <p:txBody>
          <a:bodyPr wrap="square" lIns="0" tIns="0" rIns="0" bIns="0" rtlCol="0" anchor="ctr"/>
          <a:lstStyle/>
          <a:p>
            <a:pPr indent="0" marL="0">
              <a:buNone/>
            </a:pPr>
            <a:r>
              <a:rPr lang="en-US" sz="1300" dirty="0">
                <a:solidFill>
                  <a:srgbClr val="5B6663"/>
                </a:solidFill>
                <a:latin typeface="Calibri" pitchFamily="34" charset="0"/>
                <a:ea typeface="Calibri" pitchFamily="34" charset="-122"/>
                <a:cs typeface="Calibri" pitchFamily="34" charset="-120"/>
              </a:rPr>
              <a:t>Live at </a:t>
            </a:r>
            <a:pPr indent="0" marL="0">
              <a:buNone/>
            </a:pPr>
            <a:r>
              <a:rPr lang="en-US" sz="1300" b="1" dirty="0">
                <a:solidFill>
                  <a:srgbClr val="1F6F63"/>
                </a:solidFill>
                <a:latin typeface="Calibri" pitchFamily="34" charset="0"/>
                <a:ea typeface="Calibri" pitchFamily="34" charset="-122"/>
                <a:cs typeface="Calibri" pitchFamily="34" charset="-120"/>
              </a:rPr>
              <a:t>app-seven-ashy-9kcfswuwcq.vercel.app</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2026-08-18T07:10:23Z</dcterms:created>
  <dcterms:modified xsi:type="dcterms:W3CDTF">2026-08-18T07:10:23Z</dcterms:modified>
</cp:coreProperties>
</file>